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731520"/>
            <a:ext cx="1828800" cy="457200"/>
          </a:xfrm>
          <a:prstGeom prst="rect">
            <a:avLst/>
          </a:prstGeom>
          <a:noFill/>
        </p:spPr>
        <p:txBody>
          <a:bodyPr wrap="square">
            <a:spAutoFit/>
          </a:bodyPr>
          <a:lstStyle/>
          <a:p>
            <a:pPr algn="l">
              <a:defRPr sz="2400" b="1" i="0">
                <a:solidFill>
                  <a:srgbClr val="1C1C1C"/>
                </a:solidFill>
                <a:latin typeface="Calibri"/>
              </a:defRPr>
            </a:pPr>
            <a:r>
              <a:t>Vent</a:t>
            </a:r>
          </a:p>
        </p:txBody>
      </p:sp>
      <p:sp>
        <p:nvSpPr>
          <p:cNvPr id="3" name="TextBox 2"/>
          <p:cNvSpPr txBox="1"/>
          <p:nvPr/>
        </p:nvSpPr>
        <p:spPr>
          <a:xfrm>
            <a:off x="640080" y="1463040"/>
            <a:ext cx="10058400" cy="2011680"/>
          </a:xfrm>
          <a:prstGeom prst="rect">
            <a:avLst/>
          </a:prstGeom>
          <a:noFill/>
        </p:spPr>
        <p:txBody>
          <a:bodyPr wrap="square">
            <a:spAutoFit/>
          </a:bodyPr>
          <a:lstStyle/>
          <a:p>
            <a:r>
              <a:rPr sz="4200" b="1" i="0">
                <a:solidFill>
                  <a:srgbClr val="1C1C1C"/>
                </a:solidFill>
                <a:latin typeface="Calibri"/>
              </a:rPr>
              <a:t>I work on a pharma floor.
</a:t>
            </a:r>
            <a:r>
              <a:rPr sz="4200" b="1" i="0">
                <a:solidFill>
                  <a:srgbClr val="1C1C1C"/>
                </a:solidFill>
                <a:latin typeface="Calibri"/>
              </a:rPr>
              <a:t>I see the problem </a:t>
            </a:r>
            <a:r>
              <a:rPr sz="4400" b="1" i="1">
                <a:solidFill>
                  <a:srgbClr val="C45D2C"/>
                </a:solidFill>
                <a:latin typeface="Calibri"/>
              </a:rPr>
              <a:t>every shift.
</a:t>
            </a:r>
            <a:r>
              <a:rPr sz="4200" b="1" i="0">
                <a:solidFill>
                  <a:srgbClr val="C45D2C"/>
                </a:solidFill>
                <a:latin typeface="Calibri"/>
              </a:rPr>
              <a:t>So I started building.</a:t>
            </a:r>
          </a:p>
        </p:txBody>
      </p:sp>
      <p:sp>
        <p:nvSpPr>
          <p:cNvPr id="4" name="Rounded Rectangle 3"/>
          <p:cNvSpPr/>
          <p:nvPr/>
        </p:nvSpPr>
        <p:spPr>
          <a:xfrm>
            <a:off x="640080" y="3840480"/>
            <a:ext cx="3474720" cy="18288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3977639"/>
            <a:ext cx="3108960" cy="274320"/>
          </a:xfrm>
          <a:prstGeom prst="rect">
            <a:avLst/>
          </a:prstGeom>
          <a:noFill/>
        </p:spPr>
        <p:txBody>
          <a:bodyPr wrap="square">
            <a:spAutoFit/>
          </a:bodyPr>
          <a:lstStyle/>
          <a:p>
            <a:pPr algn="l">
              <a:defRPr sz="900" b="1" i="0">
                <a:solidFill>
                  <a:srgbClr val="1A3A5C"/>
                </a:solidFill>
                <a:latin typeface="Calibri"/>
              </a:defRPr>
            </a:pPr>
            <a:r>
              <a:t>DOMAIN</a:t>
            </a:r>
          </a:p>
        </p:txBody>
      </p:sp>
      <p:sp>
        <p:nvSpPr>
          <p:cNvPr id="6" name="TextBox 5"/>
          <p:cNvSpPr txBox="1"/>
          <p:nvPr/>
        </p:nvSpPr>
        <p:spPr>
          <a:xfrm>
            <a:off x="822959" y="4251960"/>
            <a:ext cx="3108960" cy="457200"/>
          </a:xfrm>
          <a:prstGeom prst="rect">
            <a:avLst/>
          </a:prstGeom>
          <a:noFill/>
        </p:spPr>
        <p:txBody>
          <a:bodyPr wrap="square">
            <a:spAutoFit/>
          </a:bodyPr>
          <a:lstStyle/>
          <a:p>
            <a:pPr algn="l">
              <a:defRPr sz="1400" b="1" i="0">
                <a:solidFill>
                  <a:srgbClr val="1C1C1C"/>
                </a:solidFill>
                <a:latin typeface="Calibri"/>
              </a:defRPr>
            </a:pPr>
            <a:r>
              <a:t>Bioprocess Associate</a:t>
            </a:r>
          </a:p>
        </p:txBody>
      </p:sp>
      <p:sp>
        <p:nvSpPr>
          <p:cNvPr id="7" name="TextBox 6"/>
          <p:cNvSpPr txBox="1"/>
          <p:nvPr/>
        </p:nvSpPr>
        <p:spPr>
          <a:xfrm>
            <a:off x="822959" y="4754880"/>
            <a:ext cx="3108960" cy="731520"/>
          </a:xfrm>
          <a:prstGeom prst="rect">
            <a:avLst/>
          </a:prstGeom>
          <a:noFill/>
        </p:spPr>
        <p:txBody>
          <a:bodyPr wrap="square">
            <a:spAutoFit/>
          </a:bodyPr>
          <a:lstStyle/>
          <a:p>
            <a:pPr algn="l">
              <a:defRPr sz="1100" b="0" i="0">
                <a:solidFill>
                  <a:srgbClr val="5A554F"/>
                </a:solidFill>
                <a:latin typeface="Calibri"/>
              </a:defRPr>
            </a:pPr>
            <a:r>
              <a:t>Large biopharmaceutical CDMO in Ireland.</a:t>
            </a:r>
            <a:br/>
            <a:r>
              <a:t>I work on the manufacturing floor daily.</a:t>
            </a:r>
          </a:p>
        </p:txBody>
      </p:sp>
      <p:sp>
        <p:nvSpPr>
          <p:cNvPr id="8" name="Rounded Rectangle 7"/>
          <p:cNvSpPr/>
          <p:nvPr/>
        </p:nvSpPr>
        <p:spPr>
          <a:xfrm>
            <a:off x="4389120" y="3840480"/>
            <a:ext cx="3474720" cy="18288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977639"/>
            <a:ext cx="3108960" cy="274320"/>
          </a:xfrm>
          <a:prstGeom prst="rect">
            <a:avLst/>
          </a:prstGeom>
          <a:noFill/>
        </p:spPr>
        <p:txBody>
          <a:bodyPr wrap="square">
            <a:spAutoFit/>
          </a:bodyPr>
          <a:lstStyle/>
          <a:p>
            <a:pPr algn="l">
              <a:defRPr sz="900" b="1" i="0">
                <a:solidFill>
                  <a:srgbClr val="C45D2C"/>
                </a:solidFill>
                <a:latin typeface="Calibri"/>
              </a:defRPr>
            </a:pPr>
            <a:r>
              <a:t>EDUCATION</a:t>
            </a:r>
          </a:p>
        </p:txBody>
      </p:sp>
      <p:sp>
        <p:nvSpPr>
          <p:cNvPr id="10" name="TextBox 9"/>
          <p:cNvSpPr txBox="1"/>
          <p:nvPr/>
        </p:nvSpPr>
        <p:spPr>
          <a:xfrm>
            <a:off x="4572000" y="4251960"/>
            <a:ext cx="3108960" cy="457200"/>
          </a:xfrm>
          <a:prstGeom prst="rect">
            <a:avLst/>
          </a:prstGeom>
          <a:noFill/>
        </p:spPr>
        <p:txBody>
          <a:bodyPr wrap="square">
            <a:spAutoFit/>
          </a:bodyPr>
          <a:lstStyle/>
          <a:p>
            <a:pPr algn="l">
              <a:defRPr sz="1400" b="1" i="0">
                <a:solidFill>
                  <a:srgbClr val="1C1C1C"/>
                </a:solidFill>
                <a:latin typeface="Calibri"/>
              </a:defRPr>
            </a:pPr>
            <a:r>
              <a:t>BSc Immunology, Trinity College Dublin</a:t>
            </a:r>
          </a:p>
        </p:txBody>
      </p:sp>
      <p:sp>
        <p:nvSpPr>
          <p:cNvPr id="11" name="TextBox 10"/>
          <p:cNvSpPr txBox="1"/>
          <p:nvPr/>
        </p:nvSpPr>
        <p:spPr>
          <a:xfrm>
            <a:off x="4572000" y="4754880"/>
            <a:ext cx="3108960" cy="731520"/>
          </a:xfrm>
          <a:prstGeom prst="rect">
            <a:avLst/>
          </a:prstGeom>
          <a:noFill/>
        </p:spPr>
        <p:txBody>
          <a:bodyPr wrap="square">
            <a:spAutoFit/>
          </a:bodyPr>
          <a:lstStyle/>
          <a:p>
            <a:pPr algn="l">
              <a:defRPr sz="1100" b="0" i="0">
                <a:solidFill>
                  <a:srgbClr val="5A554F"/>
                </a:solidFill>
                <a:latin typeface="Calibri"/>
              </a:defRPr>
            </a:pPr>
            <a:r>
              <a:t>I understand the science, the regulation,</a:t>
            </a:r>
            <a:br/>
            <a:r>
              <a:t>and the manufacturing.</a:t>
            </a:r>
          </a:p>
        </p:txBody>
      </p:sp>
      <p:sp>
        <p:nvSpPr>
          <p:cNvPr id="12" name="Rounded Rectangle 11"/>
          <p:cNvSpPr/>
          <p:nvPr/>
        </p:nvSpPr>
        <p:spPr>
          <a:xfrm>
            <a:off x="8138159" y="3840480"/>
            <a:ext cx="3474720" cy="18288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9" y="3977639"/>
            <a:ext cx="3108960" cy="274320"/>
          </a:xfrm>
          <a:prstGeom prst="rect">
            <a:avLst/>
          </a:prstGeom>
          <a:noFill/>
        </p:spPr>
        <p:txBody>
          <a:bodyPr wrap="square">
            <a:spAutoFit/>
          </a:bodyPr>
          <a:lstStyle/>
          <a:p>
            <a:pPr algn="l">
              <a:defRPr sz="900" b="1" i="0">
                <a:solidFill>
                  <a:srgbClr val="A63D2F"/>
                </a:solidFill>
                <a:latin typeface="Calibri"/>
              </a:defRPr>
            </a:pPr>
            <a:r>
              <a:t>THE PROTOTYPE</a:t>
            </a:r>
          </a:p>
        </p:txBody>
      </p:sp>
      <p:sp>
        <p:nvSpPr>
          <p:cNvPr id="14" name="TextBox 13"/>
          <p:cNvSpPr txBox="1"/>
          <p:nvPr/>
        </p:nvSpPr>
        <p:spPr>
          <a:xfrm>
            <a:off x="8321039" y="4251960"/>
            <a:ext cx="3108960" cy="457200"/>
          </a:xfrm>
          <a:prstGeom prst="rect">
            <a:avLst/>
          </a:prstGeom>
          <a:noFill/>
        </p:spPr>
        <p:txBody>
          <a:bodyPr wrap="square">
            <a:spAutoFit/>
          </a:bodyPr>
          <a:lstStyle/>
          <a:p>
            <a:pPr algn="l">
              <a:defRPr sz="1400" b="1" i="0">
                <a:solidFill>
                  <a:srgbClr val="1C1C1C"/>
                </a:solidFill>
                <a:latin typeface="Calibri"/>
              </a:defRPr>
            </a:pPr>
            <a:r>
              <a:t>Built solo. A few weeks.</a:t>
            </a:r>
            <a:br/>
            <a:r>
              <a:t>Evenings &amp; weekends.</a:t>
            </a:r>
          </a:p>
        </p:txBody>
      </p:sp>
      <p:sp>
        <p:nvSpPr>
          <p:cNvPr id="15" name="TextBox 14"/>
          <p:cNvSpPr txBox="1"/>
          <p:nvPr/>
        </p:nvSpPr>
        <p:spPr>
          <a:xfrm>
            <a:off x="8321039" y="4754880"/>
            <a:ext cx="3108960" cy="731520"/>
          </a:xfrm>
          <a:prstGeom prst="rect">
            <a:avLst/>
          </a:prstGeom>
          <a:noFill/>
        </p:spPr>
        <p:txBody>
          <a:bodyPr wrap="square">
            <a:spAutoFit/>
          </a:bodyPr>
          <a:lstStyle/>
          <a:p>
            <a:pPr algn="l">
              <a:defRPr sz="1100" b="0" i="0">
                <a:solidFill>
                  <a:srgbClr val="5A554F"/>
                </a:solidFill>
                <a:latin typeface="Calibri"/>
              </a:defRPr>
            </a:pPr>
            <a:r>
              <a:t>Working prototype built with AI tools</a:t>
            </a:r>
            <a:br/>
            <a:r>
              <a:t>while still on the floor full-time.</a:t>
            </a:r>
          </a:p>
        </p:txBody>
      </p:sp>
      <p:sp>
        <p:nvSpPr>
          <p:cNvPr id="16" name="TextBox 15"/>
          <p:cNvSpPr txBox="1"/>
          <p:nvPr/>
        </p:nvSpPr>
        <p:spPr>
          <a:xfrm>
            <a:off x="640080" y="5943600"/>
            <a:ext cx="3657600" cy="274320"/>
          </a:xfrm>
          <a:prstGeom prst="rect">
            <a:avLst/>
          </a:prstGeom>
          <a:noFill/>
        </p:spPr>
        <p:txBody>
          <a:bodyPr wrap="square">
            <a:spAutoFit/>
          </a:bodyPr>
          <a:lstStyle/>
          <a:p>
            <a:pPr algn="l">
              <a:defRPr sz="1600" b="1" i="0">
                <a:solidFill>
                  <a:srgbClr val="1C1C1C"/>
                </a:solidFill>
                <a:latin typeface="Calibri"/>
              </a:defRPr>
            </a:pPr>
            <a:r>
              <a:t>Darren Doherty</a:t>
            </a:r>
          </a:p>
        </p:txBody>
      </p:sp>
      <p:sp>
        <p:nvSpPr>
          <p:cNvPr id="17" name="TextBox 16"/>
          <p:cNvSpPr txBox="1"/>
          <p:nvPr/>
        </p:nvSpPr>
        <p:spPr>
          <a:xfrm>
            <a:off x="640080" y="6217920"/>
            <a:ext cx="3657600" cy="274320"/>
          </a:xfrm>
          <a:prstGeom prst="rect">
            <a:avLst/>
          </a:prstGeom>
          <a:noFill/>
        </p:spPr>
        <p:txBody>
          <a:bodyPr wrap="square">
            <a:spAutoFit/>
          </a:bodyPr>
          <a:lstStyle/>
          <a:p>
            <a:pPr algn="l">
              <a:defRPr sz="1200" b="0" i="0">
                <a:solidFill>
                  <a:srgbClr val="5A554F"/>
                </a:solidFill>
                <a:latin typeface="Calibri"/>
              </a:defRPr>
            </a:pPr>
            <a:r>
              <a:t>doherd33@gmail.com</a:t>
            </a:r>
          </a:p>
        </p:txBody>
      </p:sp>
      <p:sp>
        <p:nvSpPr>
          <p:cNvPr id="18" name="TextBox 17"/>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457200"/>
            <a:ext cx="3657600" cy="274320"/>
          </a:xfrm>
          <a:prstGeom prst="rect">
            <a:avLst/>
          </a:prstGeom>
          <a:noFill/>
        </p:spPr>
        <p:txBody>
          <a:bodyPr wrap="square">
            <a:spAutoFit/>
          </a:bodyPr>
          <a:lstStyle/>
          <a:p>
            <a:pPr algn="l">
              <a:defRPr sz="1000" b="1" i="0">
                <a:solidFill>
                  <a:srgbClr val="C45D2C"/>
                </a:solidFill>
                <a:latin typeface="Calibri"/>
              </a:defRPr>
            </a:pPr>
            <a:r>
              <a:t>THE PROBLEM — A REAL EXAMPLE</a:t>
            </a:r>
          </a:p>
        </p:txBody>
      </p:sp>
      <p:sp>
        <p:nvSpPr>
          <p:cNvPr id="3" name="TextBox 2"/>
          <p:cNvSpPr txBox="1"/>
          <p:nvPr/>
        </p:nvSpPr>
        <p:spPr>
          <a:xfrm>
            <a:off x="640080" y="822960"/>
            <a:ext cx="10058400" cy="1097280"/>
          </a:xfrm>
          <a:prstGeom prst="rect">
            <a:avLst/>
          </a:prstGeom>
          <a:noFill/>
        </p:spPr>
        <p:txBody>
          <a:bodyPr wrap="square">
            <a:spAutoFit/>
          </a:bodyPr>
          <a:lstStyle/>
          <a:p>
            <a:r>
              <a:rPr sz="3400" b="1" i="0">
                <a:solidFill>
                  <a:srgbClr val="1C1C1C"/>
                </a:solidFill>
                <a:latin typeface="Calibri"/>
              </a:rPr>
              <a:t>The documentation says one thing.
</a:t>
            </a:r>
            <a:r>
              <a:rPr sz="3400" b="1" i="0">
                <a:solidFill>
                  <a:srgbClr val="A63D2F"/>
                </a:solidFill>
                <a:latin typeface="Calibri"/>
              </a:rPr>
              <a:t>The floor knows another.</a:t>
            </a:r>
          </a:p>
        </p:txBody>
      </p:sp>
      <p:sp>
        <p:nvSpPr>
          <p:cNvPr id="4" name="Rounded Rectangle 3"/>
          <p:cNvSpPr/>
          <p:nvPr/>
        </p:nvSpPr>
        <p:spPr>
          <a:xfrm>
            <a:off x="640080" y="2103120"/>
            <a:ext cx="6858000"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6400800" cy="320040"/>
          </a:xfrm>
          <a:prstGeom prst="rect">
            <a:avLst/>
          </a:prstGeom>
          <a:noFill/>
        </p:spPr>
        <p:txBody>
          <a:bodyPr wrap="square">
            <a:spAutoFit/>
          </a:bodyPr>
          <a:lstStyle/>
          <a:p>
            <a:pPr algn="l">
              <a:defRPr sz="1000" b="0" i="0">
                <a:solidFill>
                  <a:srgbClr val="9A928A"/>
                </a:solidFill>
                <a:latin typeface="Consolas"/>
              </a:defRPr>
            </a:pPr>
            <a:r>
              <a:t>Process Batch Record - ATF Filtration</a:t>
            </a:r>
          </a:p>
        </p:txBody>
      </p:sp>
      <p:sp>
        <p:nvSpPr>
          <p:cNvPr id="6" name="Rounded Rectangle 5"/>
          <p:cNvSpPr/>
          <p:nvPr/>
        </p:nvSpPr>
        <p:spPr>
          <a:xfrm>
            <a:off x="822960" y="2560320"/>
            <a:ext cx="6492240" cy="365760"/>
          </a:xfrm>
          <a:prstGeom prst="roundRect">
            <a:avLst/>
          </a:prstGeom>
          <a:solidFill>
            <a:srgbClr val="2A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78608"/>
            <a:ext cx="548640" cy="320040"/>
          </a:xfrm>
          <a:prstGeom prst="rect">
            <a:avLst/>
          </a:prstGeom>
          <a:noFill/>
        </p:spPr>
        <p:txBody>
          <a:bodyPr wrap="square">
            <a:spAutoFit/>
          </a:bodyPr>
          <a:lstStyle/>
          <a:p>
            <a:pPr algn="l">
              <a:defRPr sz="1000" b="1" i="0">
                <a:solidFill>
                  <a:srgbClr val="9A928A"/>
                </a:solidFill>
                <a:latin typeface="Consolas"/>
              </a:defRPr>
            </a:pPr>
            <a:r>
              <a:t>Step</a:t>
            </a:r>
          </a:p>
        </p:txBody>
      </p:sp>
      <p:sp>
        <p:nvSpPr>
          <p:cNvPr id="8" name="TextBox 7"/>
          <p:cNvSpPr txBox="1"/>
          <p:nvPr/>
        </p:nvSpPr>
        <p:spPr>
          <a:xfrm>
            <a:off x="1463040" y="2578608"/>
            <a:ext cx="3200400" cy="320040"/>
          </a:xfrm>
          <a:prstGeom prst="rect">
            <a:avLst/>
          </a:prstGeom>
          <a:noFill/>
        </p:spPr>
        <p:txBody>
          <a:bodyPr wrap="square">
            <a:spAutoFit/>
          </a:bodyPr>
          <a:lstStyle/>
          <a:p>
            <a:pPr algn="l">
              <a:defRPr sz="1000" b="1" i="0">
                <a:solidFill>
                  <a:srgbClr val="9A928A"/>
                </a:solidFill>
                <a:latin typeface="Consolas"/>
              </a:defRPr>
            </a:pPr>
            <a:r>
              <a:t>Action</a:t>
            </a:r>
          </a:p>
        </p:txBody>
      </p:sp>
      <p:sp>
        <p:nvSpPr>
          <p:cNvPr id="9" name="TextBox 8"/>
          <p:cNvSpPr txBox="1"/>
          <p:nvPr/>
        </p:nvSpPr>
        <p:spPr>
          <a:xfrm>
            <a:off x="4846320" y="2578608"/>
            <a:ext cx="1828800" cy="320040"/>
          </a:xfrm>
          <a:prstGeom prst="rect">
            <a:avLst/>
          </a:prstGeom>
          <a:noFill/>
        </p:spPr>
        <p:txBody>
          <a:bodyPr wrap="square">
            <a:spAutoFit/>
          </a:bodyPr>
          <a:lstStyle/>
          <a:p>
            <a:pPr algn="l">
              <a:defRPr sz="1000" b="1" i="0">
                <a:solidFill>
                  <a:srgbClr val="9A928A"/>
                </a:solidFill>
                <a:latin typeface="Consolas"/>
              </a:defRPr>
            </a:pPr>
            <a:r>
              <a:t>Parameter</a:t>
            </a:r>
          </a:p>
        </p:txBody>
      </p:sp>
      <p:sp>
        <p:nvSpPr>
          <p:cNvPr id="10" name="TextBox 9"/>
          <p:cNvSpPr txBox="1"/>
          <p:nvPr/>
        </p:nvSpPr>
        <p:spPr>
          <a:xfrm>
            <a:off x="6583680" y="2578608"/>
            <a:ext cx="640080" cy="320040"/>
          </a:xfrm>
          <a:prstGeom prst="rect">
            <a:avLst/>
          </a:prstGeom>
          <a:noFill/>
        </p:spPr>
        <p:txBody>
          <a:bodyPr wrap="square">
            <a:spAutoFit/>
          </a:bodyPr>
          <a:lstStyle/>
          <a:p>
            <a:pPr algn="l">
              <a:defRPr sz="1000" b="1" i="0">
                <a:solidFill>
                  <a:srgbClr val="9A928A"/>
                </a:solidFill>
                <a:latin typeface="Consolas"/>
              </a:defRPr>
            </a:pPr>
            <a:r>
              <a:t>Sign</a:t>
            </a:r>
          </a:p>
        </p:txBody>
      </p:sp>
      <p:sp>
        <p:nvSpPr>
          <p:cNvPr id="11" name="TextBox 10"/>
          <p:cNvSpPr txBox="1"/>
          <p:nvPr/>
        </p:nvSpPr>
        <p:spPr>
          <a:xfrm>
            <a:off x="914400" y="2971800"/>
            <a:ext cx="548640" cy="320040"/>
          </a:xfrm>
          <a:prstGeom prst="rect">
            <a:avLst/>
          </a:prstGeom>
          <a:noFill/>
        </p:spPr>
        <p:txBody>
          <a:bodyPr wrap="square">
            <a:spAutoFit/>
          </a:bodyPr>
          <a:lstStyle/>
          <a:p>
            <a:pPr algn="l">
              <a:defRPr sz="1100" b="0" i="0">
                <a:solidFill>
                  <a:srgbClr val="CCCCCC"/>
                </a:solidFill>
                <a:latin typeface="Consolas"/>
              </a:defRPr>
            </a:pPr>
            <a:r>
              <a:t>5.1</a:t>
            </a:r>
          </a:p>
        </p:txBody>
      </p:sp>
      <p:sp>
        <p:nvSpPr>
          <p:cNvPr id="12" name="TextBox 11"/>
          <p:cNvSpPr txBox="1"/>
          <p:nvPr/>
        </p:nvSpPr>
        <p:spPr>
          <a:xfrm>
            <a:off x="1463040" y="2971800"/>
            <a:ext cx="3200400" cy="320040"/>
          </a:xfrm>
          <a:prstGeom prst="rect">
            <a:avLst/>
          </a:prstGeom>
          <a:noFill/>
        </p:spPr>
        <p:txBody>
          <a:bodyPr wrap="square">
            <a:spAutoFit/>
          </a:bodyPr>
          <a:lstStyle/>
          <a:p>
            <a:pPr algn="l">
              <a:defRPr sz="1100" b="0" i="0">
                <a:solidFill>
                  <a:srgbClr val="CCCCCC"/>
                </a:solidFill>
                <a:latin typeface="Consolas"/>
              </a:defRPr>
            </a:pPr>
            <a:r>
              <a:t>Verify ATF filter integrity test PASS</a:t>
            </a:r>
          </a:p>
        </p:txBody>
      </p:sp>
      <p:sp>
        <p:nvSpPr>
          <p:cNvPr id="13" name="TextBox 12"/>
          <p:cNvSpPr txBox="1"/>
          <p:nvPr/>
        </p:nvSpPr>
        <p:spPr>
          <a:xfrm>
            <a:off x="4846320" y="2971800"/>
            <a:ext cx="1828800" cy="320040"/>
          </a:xfrm>
          <a:prstGeom prst="rect">
            <a:avLst/>
          </a:prstGeom>
          <a:noFill/>
        </p:spPr>
        <p:txBody>
          <a:bodyPr wrap="square">
            <a:spAutoFit/>
          </a:bodyPr>
          <a:lstStyle/>
          <a:p>
            <a:pPr algn="l">
              <a:defRPr sz="1100" b="0" i="0">
                <a:solidFill>
                  <a:srgbClr val="CCCCCC"/>
                </a:solidFill>
                <a:latin typeface="Consolas"/>
              </a:defRPr>
            </a:pPr>
            <a:r>
              <a:t>Result: ___</a:t>
            </a:r>
          </a:p>
        </p:txBody>
      </p:sp>
      <p:sp>
        <p:nvSpPr>
          <p:cNvPr id="14" name="TextBox 13"/>
          <p:cNvSpPr txBox="1"/>
          <p:nvPr/>
        </p:nvSpPr>
        <p:spPr>
          <a:xfrm>
            <a:off x="914400" y="3429000"/>
            <a:ext cx="548640" cy="320040"/>
          </a:xfrm>
          <a:prstGeom prst="rect">
            <a:avLst/>
          </a:prstGeom>
          <a:noFill/>
        </p:spPr>
        <p:txBody>
          <a:bodyPr wrap="square">
            <a:spAutoFit/>
          </a:bodyPr>
          <a:lstStyle/>
          <a:p>
            <a:pPr algn="l">
              <a:defRPr sz="1100" b="0" i="0">
                <a:solidFill>
                  <a:srgbClr val="CCCCCC"/>
                </a:solidFill>
                <a:latin typeface="Consolas"/>
              </a:defRPr>
            </a:pPr>
            <a:r>
              <a:t>5.2</a:t>
            </a:r>
          </a:p>
        </p:txBody>
      </p:sp>
      <p:sp>
        <p:nvSpPr>
          <p:cNvPr id="15" name="TextBox 14"/>
          <p:cNvSpPr txBox="1"/>
          <p:nvPr/>
        </p:nvSpPr>
        <p:spPr>
          <a:xfrm>
            <a:off x="1463040" y="3429000"/>
            <a:ext cx="3200400" cy="320040"/>
          </a:xfrm>
          <a:prstGeom prst="rect">
            <a:avLst/>
          </a:prstGeom>
          <a:noFill/>
        </p:spPr>
        <p:txBody>
          <a:bodyPr wrap="square">
            <a:spAutoFit/>
          </a:bodyPr>
          <a:lstStyle/>
          <a:p>
            <a:pPr algn="l">
              <a:defRPr sz="1100" b="0" i="0">
                <a:solidFill>
                  <a:srgbClr val="CCCCCC"/>
                </a:solidFill>
                <a:latin typeface="Consolas"/>
              </a:defRPr>
            </a:pPr>
            <a:r>
              <a:t>Connect WFI supply to filter inlet</a:t>
            </a:r>
          </a:p>
        </p:txBody>
      </p:sp>
      <p:sp>
        <p:nvSpPr>
          <p:cNvPr id="16" name="TextBox 15"/>
          <p:cNvSpPr txBox="1"/>
          <p:nvPr/>
        </p:nvSpPr>
        <p:spPr>
          <a:xfrm>
            <a:off x="4846320" y="3429000"/>
            <a:ext cx="1828800" cy="320040"/>
          </a:xfrm>
          <a:prstGeom prst="rect">
            <a:avLst/>
          </a:prstGeom>
          <a:noFill/>
        </p:spPr>
        <p:txBody>
          <a:bodyPr wrap="square">
            <a:spAutoFit/>
          </a:bodyPr>
          <a:lstStyle/>
          <a:p>
            <a:pPr algn="l">
              <a:defRPr sz="1100" b="0" i="0">
                <a:solidFill>
                  <a:srgbClr val="CCCCCC"/>
                </a:solidFill>
                <a:latin typeface="Consolas"/>
              </a:defRPr>
            </a:pPr>
            <a:r>
              <a:t>Confirm: ___</a:t>
            </a:r>
          </a:p>
        </p:txBody>
      </p:sp>
      <p:sp>
        <p:nvSpPr>
          <p:cNvPr id="17" name="Rounded Rectangle 16"/>
          <p:cNvSpPr/>
          <p:nvPr/>
        </p:nvSpPr>
        <p:spPr>
          <a:xfrm>
            <a:off x="822960" y="3840480"/>
            <a:ext cx="6492240" cy="457200"/>
          </a:xfrm>
          <a:prstGeom prst="roundRect">
            <a:avLst/>
          </a:prstGeom>
          <a:solidFill>
            <a:srgbClr val="3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86200"/>
            <a:ext cx="548640" cy="320040"/>
          </a:xfrm>
          <a:prstGeom prst="rect">
            <a:avLst/>
          </a:prstGeom>
          <a:noFill/>
        </p:spPr>
        <p:txBody>
          <a:bodyPr wrap="square">
            <a:spAutoFit/>
          </a:bodyPr>
          <a:lstStyle/>
          <a:p>
            <a:pPr algn="l">
              <a:defRPr sz="1100" b="1" i="0">
                <a:solidFill>
                  <a:srgbClr val="FF6B6B"/>
                </a:solidFill>
                <a:latin typeface="Consolas"/>
              </a:defRPr>
            </a:pPr>
            <a:r>
              <a:t>5.3</a:t>
            </a:r>
          </a:p>
        </p:txBody>
      </p:sp>
      <p:sp>
        <p:nvSpPr>
          <p:cNvPr id="19" name="TextBox 18"/>
          <p:cNvSpPr txBox="1"/>
          <p:nvPr/>
        </p:nvSpPr>
        <p:spPr>
          <a:xfrm>
            <a:off x="1463040" y="3886200"/>
            <a:ext cx="3200400" cy="320040"/>
          </a:xfrm>
          <a:prstGeom prst="rect">
            <a:avLst/>
          </a:prstGeom>
          <a:noFill/>
        </p:spPr>
        <p:txBody>
          <a:bodyPr wrap="square">
            <a:spAutoFit/>
          </a:bodyPr>
          <a:lstStyle/>
          <a:p>
            <a:pPr algn="l">
              <a:defRPr sz="1100" b="1" i="0">
                <a:solidFill>
                  <a:srgbClr val="FF6B6B"/>
                </a:solidFill>
                <a:latin typeface="Consolas"/>
              </a:defRPr>
            </a:pPr>
            <a:r>
              <a:t>Flush ATF filter with WFI</a:t>
            </a:r>
          </a:p>
        </p:txBody>
      </p:sp>
      <p:sp>
        <p:nvSpPr>
          <p:cNvPr id="20" name="TextBox 19"/>
          <p:cNvSpPr txBox="1"/>
          <p:nvPr/>
        </p:nvSpPr>
        <p:spPr>
          <a:xfrm>
            <a:off x="4846320" y="3886200"/>
            <a:ext cx="1828800" cy="320040"/>
          </a:xfrm>
          <a:prstGeom prst="rect">
            <a:avLst/>
          </a:prstGeom>
          <a:noFill/>
        </p:spPr>
        <p:txBody>
          <a:bodyPr wrap="square">
            <a:spAutoFit/>
          </a:bodyPr>
          <a:lstStyle/>
          <a:p>
            <a:pPr algn="l">
              <a:defRPr sz="1100" b="1" i="0">
                <a:solidFill>
                  <a:srgbClr val="FF6B6B"/>
                </a:solidFill>
                <a:latin typeface="Consolas"/>
              </a:defRPr>
            </a:pPr>
            <a:r>
              <a:t>Volume: 100L</a:t>
            </a:r>
          </a:p>
        </p:txBody>
      </p:sp>
      <p:sp>
        <p:nvSpPr>
          <p:cNvPr id="21" name="TextBox 20"/>
          <p:cNvSpPr txBox="1"/>
          <p:nvPr/>
        </p:nvSpPr>
        <p:spPr>
          <a:xfrm>
            <a:off x="914400" y="4343400"/>
            <a:ext cx="548640" cy="320040"/>
          </a:xfrm>
          <a:prstGeom prst="rect">
            <a:avLst/>
          </a:prstGeom>
          <a:noFill/>
        </p:spPr>
        <p:txBody>
          <a:bodyPr wrap="square">
            <a:spAutoFit/>
          </a:bodyPr>
          <a:lstStyle/>
          <a:p>
            <a:pPr algn="l">
              <a:defRPr sz="1100" b="0" i="0">
                <a:solidFill>
                  <a:srgbClr val="CCCCCC"/>
                </a:solidFill>
                <a:latin typeface="Consolas"/>
              </a:defRPr>
            </a:pPr>
            <a:r>
              <a:t>5.4</a:t>
            </a:r>
          </a:p>
        </p:txBody>
      </p:sp>
      <p:sp>
        <p:nvSpPr>
          <p:cNvPr id="22" name="TextBox 21"/>
          <p:cNvSpPr txBox="1"/>
          <p:nvPr/>
        </p:nvSpPr>
        <p:spPr>
          <a:xfrm>
            <a:off x="1463040" y="4343400"/>
            <a:ext cx="3200400" cy="320040"/>
          </a:xfrm>
          <a:prstGeom prst="rect">
            <a:avLst/>
          </a:prstGeom>
          <a:noFill/>
        </p:spPr>
        <p:txBody>
          <a:bodyPr wrap="square">
            <a:spAutoFit/>
          </a:bodyPr>
          <a:lstStyle/>
          <a:p>
            <a:pPr algn="l">
              <a:defRPr sz="1100" b="0" i="0">
                <a:solidFill>
                  <a:srgbClr val="CCCCCC"/>
                </a:solidFill>
                <a:latin typeface="Consolas"/>
              </a:defRPr>
            </a:pPr>
            <a:r>
              <a:t>Record flush time and flow rate</a:t>
            </a:r>
          </a:p>
        </p:txBody>
      </p:sp>
      <p:sp>
        <p:nvSpPr>
          <p:cNvPr id="23" name="TextBox 22"/>
          <p:cNvSpPr txBox="1"/>
          <p:nvPr/>
        </p:nvSpPr>
        <p:spPr>
          <a:xfrm>
            <a:off x="4846320" y="4343400"/>
            <a:ext cx="1828800" cy="320040"/>
          </a:xfrm>
          <a:prstGeom prst="rect">
            <a:avLst/>
          </a:prstGeom>
          <a:noFill/>
        </p:spPr>
        <p:txBody>
          <a:bodyPr wrap="square">
            <a:spAutoFit/>
          </a:bodyPr>
          <a:lstStyle/>
          <a:p>
            <a:pPr algn="l">
              <a:defRPr sz="1100" b="0" i="0">
                <a:solidFill>
                  <a:srgbClr val="CCCCCC"/>
                </a:solidFill>
                <a:latin typeface="Consolas"/>
              </a:defRPr>
            </a:pPr>
            <a:r>
              <a:t>Time: ___</a:t>
            </a:r>
          </a:p>
        </p:txBody>
      </p:sp>
      <p:sp>
        <p:nvSpPr>
          <p:cNvPr id="24" name="TextBox 23"/>
          <p:cNvSpPr txBox="1"/>
          <p:nvPr/>
        </p:nvSpPr>
        <p:spPr>
          <a:xfrm>
            <a:off x="914400" y="4800600"/>
            <a:ext cx="548640" cy="320040"/>
          </a:xfrm>
          <a:prstGeom prst="rect">
            <a:avLst/>
          </a:prstGeom>
          <a:noFill/>
        </p:spPr>
        <p:txBody>
          <a:bodyPr wrap="square">
            <a:spAutoFit/>
          </a:bodyPr>
          <a:lstStyle/>
          <a:p>
            <a:pPr algn="l">
              <a:defRPr sz="1100" b="0" i="0">
                <a:solidFill>
                  <a:srgbClr val="CCCCCC"/>
                </a:solidFill>
                <a:latin typeface="Consolas"/>
              </a:defRPr>
            </a:pPr>
            <a:r>
              <a:t>5.5</a:t>
            </a:r>
          </a:p>
        </p:txBody>
      </p:sp>
      <p:sp>
        <p:nvSpPr>
          <p:cNvPr id="25" name="TextBox 24"/>
          <p:cNvSpPr txBox="1"/>
          <p:nvPr/>
        </p:nvSpPr>
        <p:spPr>
          <a:xfrm>
            <a:off x="1463040" y="4800600"/>
            <a:ext cx="3200400" cy="320040"/>
          </a:xfrm>
          <a:prstGeom prst="rect">
            <a:avLst/>
          </a:prstGeom>
          <a:noFill/>
        </p:spPr>
        <p:txBody>
          <a:bodyPr wrap="square">
            <a:spAutoFit/>
          </a:bodyPr>
          <a:lstStyle/>
          <a:p>
            <a:pPr algn="l">
              <a:defRPr sz="1100" b="0" i="0">
                <a:solidFill>
                  <a:srgbClr val="CCCCCC"/>
                </a:solidFill>
                <a:latin typeface="Consolas"/>
              </a:defRPr>
            </a:pPr>
            <a:r>
              <a:t>Verify filter post-use integrity test</a:t>
            </a:r>
          </a:p>
        </p:txBody>
      </p:sp>
      <p:sp>
        <p:nvSpPr>
          <p:cNvPr id="26" name="TextBox 25"/>
          <p:cNvSpPr txBox="1"/>
          <p:nvPr/>
        </p:nvSpPr>
        <p:spPr>
          <a:xfrm>
            <a:off x="4846320" y="4800600"/>
            <a:ext cx="1828800" cy="320040"/>
          </a:xfrm>
          <a:prstGeom prst="rect">
            <a:avLst/>
          </a:prstGeom>
          <a:noFill/>
        </p:spPr>
        <p:txBody>
          <a:bodyPr wrap="square">
            <a:spAutoFit/>
          </a:bodyPr>
          <a:lstStyle/>
          <a:p>
            <a:pPr algn="l">
              <a:defRPr sz="1100" b="0" i="0">
                <a:solidFill>
                  <a:srgbClr val="CCCCCC"/>
                </a:solidFill>
                <a:latin typeface="Consolas"/>
              </a:defRPr>
            </a:pPr>
            <a:r>
              <a:t>Result: ___</a:t>
            </a:r>
          </a:p>
        </p:txBody>
      </p:sp>
      <p:sp>
        <p:nvSpPr>
          <p:cNvPr id="27" name="Rounded Rectangle 26"/>
          <p:cNvSpPr/>
          <p:nvPr/>
        </p:nvSpPr>
        <p:spPr>
          <a:xfrm>
            <a:off x="7772400" y="2103120"/>
            <a:ext cx="3840480" cy="2377440"/>
          </a:xfrm>
          <a:prstGeom prst="roundRect">
            <a:avLst/>
          </a:prstGeom>
          <a:solidFill>
            <a:srgbClr val="FFFFFF"/>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79" y="2194560"/>
            <a:ext cx="3474720" cy="274320"/>
          </a:xfrm>
          <a:prstGeom prst="rect">
            <a:avLst/>
          </a:prstGeom>
          <a:noFill/>
        </p:spPr>
        <p:txBody>
          <a:bodyPr wrap="square">
            <a:spAutoFit/>
          </a:bodyPr>
          <a:lstStyle/>
          <a:p>
            <a:pPr algn="l">
              <a:defRPr sz="900" b="1" i="0">
                <a:solidFill>
                  <a:srgbClr val="A63D2F"/>
                </a:solidFill>
                <a:latin typeface="Calibri"/>
              </a:defRPr>
            </a:pPr>
            <a:r>
              <a:t>THE MISMATCH</a:t>
            </a:r>
          </a:p>
        </p:txBody>
      </p:sp>
      <p:sp>
        <p:nvSpPr>
          <p:cNvPr id="29" name="Rounded Rectangle 28"/>
          <p:cNvSpPr/>
          <p:nvPr/>
        </p:nvSpPr>
        <p:spPr>
          <a:xfrm>
            <a:off x="7955279" y="2560320"/>
            <a:ext cx="1554480" cy="914400"/>
          </a:xfrm>
          <a:prstGeom prst="roundRect">
            <a:avLst/>
          </a:prstGeom>
          <a:solidFill>
            <a:srgbClr val="FDF0F0"/>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0" y="2606040"/>
            <a:ext cx="1371600" cy="274320"/>
          </a:xfrm>
          <a:prstGeom prst="rect">
            <a:avLst/>
          </a:prstGeom>
          <a:noFill/>
        </p:spPr>
        <p:txBody>
          <a:bodyPr wrap="square">
            <a:spAutoFit/>
          </a:bodyPr>
          <a:lstStyle/>
          <a:p>
            <a:pPr algn="l">
              <a:defRPr sz="1000" b="0" i="0">
                <a:solidFill>
                  <a:srgbClr val="9A928A"/>
                </a:solidFill>
                <a:latin typeface="Calibri"/>
              </a:defRPr>
            </a:pPr>
            <a:r>
              <a:t>PBR says</a:t>
            </a:r>
          </a:p>
        </p:txBody>
      </p:sp>
      <p:sp>
        <p:nvSpPr>
          <p:cNvPr id="31" name="TextBox 30"/>
          <p:cNvSpPr txBox="1"/>
          <p:nvPr/>
        </p:nvSpPr>
        <p:spPr>
          <a:xfrm>
            <a:off x="8046720" y="2880360"/>
            <a:ext cx="1371600" cy="457200"/>
          </a:xfrm>
          <a:prstGeom prst="rect">
            <a:avLst/>
          </a:prstGeom>
          <a:noFill/>
        </p:spPr>
        <p:txBody>
          <a:bodyPr wrap="square">
            <a:spAutoFit/>
          </a:bodyPr>
          <a:lstStyle/>
          <a:p>
            <a:pPr algn="ctr">
              <a:defRPr sz="2800" b="1" i="0">
                <a:solidFill>
                  <a:srgbClr val="A63D2F"/>
                </a:solidFill>
                <a:latin typeface="Calibri"/>
              </a:defRPr>
            </a:pPr>
            <a:r>
              <a:t>100L</a:t>
            </a:r>
          </a:p>
        </p:txBody>
      </p:sp>
      <p:sp>
        <p:nvSpPr>
          <p:cNvPr id="32" name="TextBox 31"/>
          <p:cNvSpPr txBox="1"/>
          <p:nvPr/>
        </p:nvSpPr>
        <p:spPr>
          <a:xfrm>
            <a:off x="9601200" y="2834640"/>
            <a:ext cx="365760" cy="365760"/>
          </a:xfrm>
          <a:prstGeom prst="rect">
            <a:avLst/>
          </a:prstGeom>
          <a:noFill/>
        </p:spPr>
        <p:txBody>
          <a:bodyPr wrap="square">
            <a:spAutoFit/>
          </a:bodyPr>
          <a:lstStyle/>
          <a:p>
            <a:pPr algn="ctr">
              <a:defRPr sz="1400" b="0" i="0">
                <a:solidFill>
                  <a:srgbClr val="9A928A"/>
                </a:solidFill>
                <a:latin typeface="Calibri"/>
              </a:defRPr>
            </a:pPr>
            <a:r>
              <a:t>vs</a:t>
            </a:r>
          </a:p>
        </p:txBody>
      </p:sp>
      <p:sp>
        <p:nvSpPr>
          <p:cNvPr id="33" name="Rounded Rectangle 32"/>
          <p:cNvSpPr/>
          <p:nvPr/>
        </p:nvSpPr>
        <p:spPr>
          <a:xfrm>
            <a:off x="10058400" y="2560320"/>
            <a:ext cx="1554480" cy="914400"/>
          </a:xfrm>
          <a:prstGeom prst="roundRect">
            <a:avLst/>
          </a:prstGeom>
          <a:solidFill>
            <a:srgbClr val="F0FDF0"/>
          </a:solidFill>
          <a:ln w="19050">
            <a:solidFill>
              <a:srgbClr val="3A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49840" y="2606040"/>
            <a:ext cx="1371600" cy="274320"/>
          </a:xfrm>
          <a:prstGeom prst="rect">
            <a:avLst/>
          </a:prstGeom>
          <a:noFill/>
        </p:spPr>
        <p:txBody>
          <a:bodyPr wrap="square">
            <a:spAutoFit/>
          </a:bodyPr>
          <a:lstStyle/>
          <a:p>
            <a:pPr algn="l">
              <a:defRPr sz="1000" b="0" i="0">
                <a:solidFill>
                  <a:srgbClr val="9A928A"/>
                </a:solidFill>
                <a:latin typeface="Calibri"/>
              </a:defRPr>
            </a:pPr>
            <a:r>
              <a:t>SOP says</a:t>
            </a:r>
          </a:p>
        </p:txBody>
      </p:sp>
      <p:sp>
        <p:nvSpPr>
          <p:cNvPr id="35" name="TextBox 34"/>
          <p:cNvSpPr txBox="1"/>
          <p:nvPr/>
        </p:nvSpPr>
        <p:spPr>
          <a:xfrm>
            <a:off x="10149840" y="2880360"/>
            <a:ext cx="1371600" cy="457200"/>
          </a:xfrm>
          <a:prstGeom prst="rect">
            <a:avLst/>
          </a:prstGeom>
          <a:noFill/>
        </p:spPr>
        <p:txBody>
          <a:bodyPr wrap="square">
            <a:spAutoFit/>
          </a:bodyPr>
          <a:lstStyle/>
          <a:p>
            <a:pPr algn="ctr">
              <a:defRPr sz="2800" b="1" i="0">
                <a:solidFill>
                  <a:srgbClr val="3A7D52"/>
                </a:solidFill>
                <a:latin typeface="Calibri"/>
              </a:defRPr>
            </a:pPr>
            <a:r>
              <a:t>150L</a:t>
            </a:r>
          </a:p>
        </p:txBody>
      </p:sp>
      <p:sp>
        <p:nvSpPr>
          <p:cNvPr id="36" name="TextBox 35"/>
          <p:cNvSpPr txBox="1"/>
          <p:nvPr/>
        </p:nvSpPr>
        <p:spPr>
          <a:xfrm>
            <a:off x="7955279" y="3611880"/>
            <a:ext cx="3474720" cy="731520"/>
          </a:xfrm>
          <a:prstGeom prst="rect">
            <a:avLst/>
          </a:prstGeom>
          <a:noFill/>
        </p:spPr>
        <p:txBody>
          <a:bodyPr wrap="square">
            <a:spAutoFit/>
          </a:bodyPr>
          <a:lstStyle/>
          <a:p>
            <a:pPr algn="l">
              <a:defRPr sz="1200" b="0" i="0">
                <a:solidFill>
                  <a:srgbClr val="5A554F"/>
                </a:solidFill>
                <a:latin typeface="Calibri"/>
              </a:defRPr>
            </a:pPr>
            <a:r>
              <a:t>The operator knows 100L isn't enough for the tubing length on that skid. The SOP confirms it. But the PBR hasn't been updated.</a:t>
            </a:r>
          </a:p>
        </p:txBody>
      </p:sp>
      <p:sp>
        <p:nvSpPr>
          <p:cNvPr id="37" name="Rounded Rectangle 36"/>
          <p:cNvSpPr/>
          <p:nvPr/>
        </p:nvSpPr>
        <p:spPr>
          <a:xfrm>
            <a:off x="7772400" y="4754880"/>
            <a:ext cx="1828800" cy="914400"/>
          </a:xfrm>
          <a:prstGeom prst="roundRect">
            <a:avLst/>
          </a:prstGeom>
          <a:solidFill>
            <a:srgbClr val="FDF0F0"/>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0" y="4800600"/>
            <a:ext cx="1645920" cy="457200"/>
          </a:xfrm>
          <a:prstGeom prst="rect">
            <a:avLst/>
          </a:prstGeom>
          <a:noFill/>
        </p:spPr>
        <p:txBody>
          <a:bodyPr wrap="square">
            <a:spAutoFit/>
          </a:bodyPr>
          <a:lstStyle/>
          <a:p>
            <a:pPr algn="ctr">
              <a:defRPr sz="2800" b="1" i="0">
                <a:solidFill>
                  <a:srgbClr val="A63D2F"/>
                </a:solidFill>
                <a:latin typeface="Calibri"/>
              </a:defRPr>
            </a:pPr>
            <a:r>
              <a:t>~E50K</a:t>
            </a:r>
          </a:p>
        </p:txBody>
      </p:sp>
      <p:sp>
        <p:nvSpPr>
          <p:cNvPr id="39" name="TextBox 38"/>
          <p:cNvSpPr txBox="1"/>
          <p:nvPr/>
        </p:nvSpPr>
        <p:spPr>
          <a:xfrm>
            <a:off x="7863840" y="5257800"/>
            <a:ext cx="1645920" cy="274320"/>
          </a:xfrm>
          <a:prstGeom prst="rect">
            <a:avLst/>
          </a:prstGeom>
          <a:noFill/>
        </p:spPr>
        <p:txBody>
          <a:bodyPr wrap="square">
            <a:spAutoFit/>
          </a:bodyPr>
          <a:lstStyle/>
          <a:p>
            <a:pPr algn="ctr">
              <a:defRPr sz="1000" b="0" i="0">
                <a:solidFill>
                  <a:srgbClr val="5A554F"/>
                </a:solidFill>
                <a:latin typeface="Calibri"/>
              </a:defRPr>
            </a:pPr>
            <a:r>
              <a:t>per ATF filter</a:t>
            </a:r>
          </a:p>
        </p:txBody>
      </p:sp>
      <p:sp>
        <p:nvSpPr>
          <p:cNvPr id="40" name="Rounded Rectangle 39"/>
          <p:cNvSpPr/>
          <p:nvPr/>
        </p:nvSpPr>
        <p:spPr>
          <a:xfrm>
            <a:off x="9784080" y="4754880"/>
            <a:ext cx="1828800" cy="914400"/>
          </a:xfrm>
          <a:prstGeom prst="roundRect">
            <a:avLst/>
          </a:prstGeom>
          <a:solidFill>
            <a:srgbClr val="FDF0F0"/>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0" y="4800600"/>
            <a:ext cx="1645920" cy="457200"/>
          </a:xfrm>
          <a:prstGeom prst="rect">
            <a:avLst/>
          </a:prstGeom>
          <a:noFill/>
        </p:spPr>
        <p:txBody>
          <a:bodyPr wrap="square">
            <a:spAutoFit/>
          </a:bodyPr>
          <a:lstStyle/>
          <a:p>
            <a:pPr algn="ctr">
              <a:defRPr sz="2800" b="1" i="0">
                <a:solidFill>
                  <a:srgbClr val="A63D2F"/>
                </a:solidFill>
                <a:latin typeface="Calibri"/>
              </a:defRPr>
            </a:pPr>
            <a:r>
              <a:t>E1-5M</a:t>
            </a:r>
          </a:p>
        </p:txBody>
      </p:sp>
      <p:sp>
        <p:nvSpPr>
          <p:cNvPr id="42" name="TextBox 41"/>
          <p:cNvSpPr txBox="1"/>
          <p:nvPr/>
        </p:nvSpPr>
        <p:spPr>
          <a:xfrm>
            <a:off x="9875520" y="5257800"/>
            <a:ext cx="1645920" cy="274320"/>
          </a:xfrm>
          <a:prstGeom prst="rect">
            <a:avLst/>
          </a:prstGeom>
          <a:noFill/>
        </p:spPr>
        <p:txBody>
          <a:bodyPr wrap="square">
            <a:spAutoFit/>
          </a:bodyPr>
          <a:lstStyle/>
          <a:p>
            <a:pPr algn="ctr">
              <a:defRPr sz="1000" b="0" i="0">
                <a:solidFill>
                  <a:srgbClr val="5A554F"/>
                </a:solidFill>
                <a:latin typeface="Calibri"/>
              </a:defRPr>
            </a:pPr>
            <a:r>
              <a:t>per batch failure</a:t>
            </a:r>
          </a:p>
        </p:txBody>
      </p:sp>
      <p:sp>
        <p:nvSpPr>
          <p:cNvPr id="43" name="Rounded Rectangle 42"/>
          <p:cNvSpPr/>
          <p:nvPr/>
        </p:nvSpPr>
        <p:spPr>
          <a:xfrm>
            <a:off x="7772400" y="5852160"/>
            <a:ext cx="3840480" cy="548640"/>
          </a:xfrm>
          <a:prstGeom prst="roundRect">
            <a:avLst/>
          </a:prstGeom>
          <a:solidFill>
            <a:srgbClr val="ED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55279" y="5897880"/>
            <a:ext cx="3474720" cy="457200"/>
          </a:xfrm>
          <a:prstGeom prst="rect">
            <a:avLst/>
          </a:prstGeom>
          <a:noFill/>
        </p:spPr>
        <p:txBody>
          <a:bodyPr wrap="square">
            <a:spAutoFit/>
          </a:bodyPr>
          <a:lstStyle/>
          <a:p>
            <a:pPr algn="l">
              <a:defRPr sz="1200" b="1" i="0">
                <a:solidFill>
                  <a:srgbClr val="1C1C1C"/>
                </a:solidFill>
                <a:latin typeface="Calibri"/>
              </a:defRPr>
            </a:pPr>
            <a:r>
              <a:t>The operator can see this. But reporting it? That's where it falls apart.</a:t>
            </a:r>
          </a:p>
        </p:txBody>
      </p:sp>
      <p:sp>
        <p:nvSpPr>
          <p:cNvPr id="45" name="TextBox 44"/>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457200"/>
            <a:ext cx="3657600" cy="274320"/>
          </a:xfrm>
          <a:prstGeom prst="rect">
            <a:avLst/>
          </a:prstGeom>
          <a:noFill/>
        </p:spPr>
        <p:txBody>
          <a:bodyPr wrap="square">
            <a:spAutoFit/>
          </a:bodyPr>
          <a:lstStyle/>
          <a:p>
            <a:pPr algn="l">
              <a:defRPr sz="1000" b="1" i="0">
                <a:solidFill>
                  <a:srgbClr val="A63D2F"/>
                </a:solidFill>
                <a:latin typeface="Calibri"/>
              </a:defRPr>
            </a:pPr>
            <a:r>
              <a:t>WHAT HAPPENS TODAY</a:t>
            </a:r>
          </a:p>
        </p:txBody>
      </p:sp>
      <p:sp>
        <p:nvSpPr>
          <p:cNvPr id="3" name="TextBox 2"/>
          <p:cNvSpPr txBox="1"/>
          <p:nvPr/>
        </p:nvSpPr>
        <p:spPr>
          <a:xfrm>
            <a:off x="640080" y="822960"/>
            <a:ext cx="9144000" cy="731520"/>
          </a:xfrm>
          <a:prstGeom prst="rect">
            <a:avLst/>
          </a:prstGeom>
          <a:noFill/>
        </p:spPr>
        <p:txBody>
          <a:bodyPr wrap="square">
            <a:spAutoFit/>
          </a:bodyPr>
          <a:lstStyle/>
          <a:p>
            <a:r>
              <a:rPr sz="3600" b="1" i="0">
                <a:solidFill>
                  <a:srgbClr val="1C1C1C"/>
                </a:solidFill>
                <a:latin typeface="Calibri"/>
              </a:rPr>
              <a:t>The operator sees it. </a:t>
            </a:r>
            <a:r>
              <a:rPr sz="3600" b="1" i="0">
                <a:solidFill>
                  <a:srgbClr val="A63D2F"/>
                </a:solidFill>
                <a:latin typeface="Calibri"/>
              </a:rPr>
              <a:t>Then what?</a:t>
            </a:r>
          </a:p>
        </p:txBody>
      </p:sp>
      <p:sp>
        <p:nvSpPr>
          <p:cNvPr id="4" name="TextBox 3"/>
          <p:cNvSpPr txBox="1"/>
          <p:nvPr/>
        </p:nvSpPr>
        <p:spPr>
          <a:xfrm>
            <a:off x="640080" y="1463040"/>
            <a:ext cx="9144000" cy="365760"/>
          </a:xfrm>
          <a:prstGeom prst="rect">
            <a:avLst/>
          </a:prstGeom>
          <a:noFill/>
        </p:spPr>
        <p:txBody>
          <a:bodyPr wrap="square">
            <a:spAutoFit/>
          </a:bodyPr>
          <a:lstStyle/>
          <a:p>
            <a:pPr algn="l">
              <a:defRPr sz="1400" b="0" i="0">
                <a:solidFill>
                  <a:srgbClr val="5A554F"/>
                </a:solidFill>
                <a:latin typeface="Calibri"/>
              </a:defRPr>
            </a:pPr>
            <a:r>
              <a:t>Current process for raising a documentation issue on a pharma manufacturing floor.</a:t>
            </a:r>
          </a:p>
        </p:txBody>
      </p:sp>
      <p:sp>
        <p:nvSpPr>
          <p:cNvPr id="5" name="Rounded Rectangle 4"/>
          <p:cNvSpPr/>
          <p:nvPr/>
        </p:nvSpPr>
        <p:spPr>
          <a:xfrm>
            <a:off x="640080" y="2103120"/>
            <a:ext cx="1691640" cy="164592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2286000"/>
            <a:ext cx="1508760" cy="365760"/>
          </a:xfrm>
          <a:prstGeom prst="rect">
            <a:avLst/>
          </a:prstGeom>
          <a:noFill/>
        </p:spPr>
        <p:txBody>
          <a:bodyPr wrap="square">
            <a:spAutoFit/>
          </a:bodyPr>
          <a:lstStyle/>
          <a:p>
            <a:pPr algn="ctr">
              <a:defRPr sz="1400" b="1" i="0">
                <a:solidFill>
                  <a:srgbClr val="1C1C1C"/>
                </a:solidFill>
                <a:latin typeface="Calibri"/>
              </a:defRPr>
            </a:pPr>
            <a:r>
              <a:t>You</a:t>
            </a:r>
          </a:p>
        </p:txBody>
      </p:sp>
      <p:sp>
        <p:nvSpPr>
          <p:cNvPr id="7" name="TextBox 6"/>
          <p:cNvSpPr txBox="1"/>
          <p:nvPr/>
        </p:nvSpPr>
        <p:spPr>
          <a:xfrm>
            <a:off x="731519" y="2697480"/>
            <a:ext cx="1508760" cy="548640"/>
          </a:xfrm>
          <a:prstGeom prst="rect">
            <a:avLst/>
          </a:prstGeom>
          <a:noFill/>
        </p:spPr>
        <p:txBody>
          <a:bodyPr wrap="square">
            <a:spAutoFit/>
          </a:bodyPr>
          <a:lstStyle/>
          <a:p>
            <a:pPr algn="ctr">
              <a:defRPr sz="1100" b="0" i="0">
                <a:solidFill>
                  <a:srgbClr val="9A928A"/>
                </a:solidFill>
                <a:latin typeface="Calibri"/>
              </a:defRPr>
            </a:pPr>
            <a:r>
              <a:t>notice the</a:t>
            </a:r>
            <a:br/>
            <a:r>
              <a:t>mismatch</a:t>
            </a:r>
          </a:p>
        </p:txBody>
      </p:sp>
      <p:sp>
        <p:nvSpPr>
          <p:cNvPr id="8" name="TextBox 7"/>
          <p:cNvSpPr txBox="1"/>
          <p:nvPr/>
        </p:nvSpPr>
        <p:spPr>
          <a:xfrm>
            <a:off x="2240280" y="2651760"/>
            <a:ext cx="365760" cy="365760"/>
          </a:xfrm>
          <a:prstGeom prst="rect">
            <a:avLst/>
          </a:prstGeom>
          <a:noFill/>
        </p:spPr>
        <p:txBody>
          <a:bodyPr wrap="square">
            <a:spAutoFit/>
          </a:bodyPr>
          <a:lstStyle/>
          <a:p>
            <a:pPr algn="ctr">
              <a:defRPr sz="1800" b="0" i="0">
                <a:solidFill>
                  <a:srgbClr val="9A928A"/>
                </a:solidFill>
                <a:latin typeface="Calibri"/>
              </a:defRPr>
            </a:pPr>
            <a:r>
              <a:t>&gt;</a:t>
            </a:r>
          </a:p>
        </p:txBody>
      </p:sp>
      <p:sp>
        <p:nvSpPr>
          <p:cNvPr id="9" name="Rounded Rectangle 8"/>
          <p:cNvSpPr/>
          <p:nvPr/>
        </p:nvSpPr>
        <p:spPr>
          <a:xfrm>
            <a:off x="2514600" y="2103120"/>
            <a:ext cx="1691640" cy="164592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2286000"/>
            <a:ext cx="1508760" cy="365760"/>
          </a:xfrm>
          <a:prstGeom prst="rect">
            <a:avLst/>
          </a:prstGeom>
          <a:noFill/>
        </p:spPr>
        <p:txBody>
          <a:bodyPr wrap="square">
            <a:spAutoFit/>
          </a:bodyPr>
          <a:lstStyle/>
          <a:p>
            <a:pPr algn="ctr">
              <a:defRPr sz="1400" b="1" i="0">
                <a:solidFill>
                  <a:srgbClr val="1C1C1C"/>
                </a:solidFill>
                <a:latin typeface="Calibri"/>
              </a:defRPr>
            </a:pPr>
            <a:r>
              <a:t>Supervisor</a:t>
            </a:r>
          </a:p>
        </p:txBody>
      </p:sp>
      <p:sp>
        <p:nvSpPr>
          <p:cNvPr id="11" name="TextBox 10"/>
          <p:cNvSpPr txBox="1"/>
          <p:nvPr/>
        </p:nvSpPr>
        <p:spPr>
          <a:xfrm>
            <a:off x="2606040" y="2697480"/>
            <a:ext cx="1508760" cy="548640"/>
          </a:xfrm>
          <a:prstGeom prst="rect">
            <a:avLst/>
          </a:prstGeom>
          <a:noFill/>
        </p:spPr>
        <p:txBody>
          <a:bodyPr wrap="square">
            <a:spAutoFit/>
          </a:bodyPr>
          <a:lstStyle/>
          <a:p>
            <a:pPr algn="ctr">
              <a:defRPr sz="1100" b="0" i="0">
                <a:solidFill>
                  <a:srgbClr val="9A928A"/>
                </a:solidFill>
                <a:latin typeface="Calibri"/>
              </a:defRPr>
            </a:pPr>
            <a:r>
              <a:t>verbal</a:t>
            </a:r>
            <a:br/>
            <a:r>
              <a:t>handoff</a:t>
            </a:r>
          </a:p>
        </p:txBody>
      </p:sp>
      <p:sp>
        <p:nvSpPr>
          <p:cNvPr id="12" name="TextBox 11"/>
          <p:cNvSpPr txBox="1"/>
          <p:nvPr/>
        </p:nvSpPr>
        <p:spPr>
          <a:xfrm>
            <a:off x="4114800" y="2651760"/>
            <a:ext cx="365760" cy="365760"/>
          </a:xfrm>
          <a:prstGeom prst="rect">
            <a:avLst/>
          </a:prstGeom>
          <a:noFill/>
        </p:spPr>
        <p:txBody>
          <a:bodyPr wrap="square">
            <a:spAutoFit/>
          </a:bodyPr>
          <a:lstStyle/>
          <a:p>
            <a:pPr algn="ctr">
              <a:defRPr sz="1800" b="0" i="0">
                <a:solidFill>
                  <a:srgbClr val="9A928A"/>
                </a:solidFill>
                <a:latin typeface="Calibri"/>
              </a:defRPr>
            </a:pPr>
            <a:r>
              <a:t>&gt;</a:t>
            </a:r>
          </a:p>
        </p:txBody>
      </p:sp>
      <p:sp>
        <p:nvSpPr>
          <p:cNvPr id="13" name="Rounded Rectangle 12"/>
          <p:cNvSpPr/>
          <p:nvPr/>
        </p:nvSpPr>
        <p:spPr>
          <a:xfrm>
            <a:off x="4389120" y="2103120"/>
            <a:ext cx="1691640" cy="164592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2286000"/>
            <a:ext cx="1508760" cy="365760"/>
          </a:xfrm>
          <a:prstGeom prst="rect">
            <a:avLst/>
          </a:prstGeom>
          <a:noFill/>
        </p:spPr>
        <p:txBody>
          <a:bodyPr wrap="square">
            <a:spAutoFit/>
          </a:bodyPr>
          <a:lstStyle/>
          <a:p>
            <a:pPr algn="ctr">
              <a:defRPr sz="1400" b="1" i="0">
                <a:solidFill>
                  <a:srgbClr val="1C1C1C"/>
                </a:solidFill>
                <a:latin typeface="Calibri"/>
              </a:defRPr>
            </a:pPr>
            <a:r>
              <a:t>Manager</a:t>
            </a:r>
          </a:p>
        </p:txBody>
      </p:sp>
      <p:sp>
        <p:nvSpPr>
          <p:cNvPr id="15" name="TextBox 14"/>
          <p:cNvSpPr txBox="1"/>
          <p:nvPr/>
        </p:nvSpPr>
        <p:spPr>
          <a:xfrm>
            <a:off x="4480559" y="2697480"/>
            <a:ext cx="1508760" cy="548640"/>
          </a:xfrm>
          <a:prstGeom prst="rect">
            <a:avLst/>
          </a:prstGeom>
          <a:noFill/>
        </p:spPr>
        <p:txBody>
          <a:bodyPr wrap="square">
            <a:spAutoFit/>
          </a:bodyPr>
          <a:lstStyle/>
          <a:p>
            <a:pPr algn="ctr">
              <a:defRPr sz="1100" b="0" i="0">
                <a:solidFill>
                  <a:srgbClr val="9A928A"/>
                </a:solidFill>
                <a:latin typeface="Calibri"/>
              </a:defRPr>
            </a:pPr>
            <a:r>
              <a:t>raises it</a:t>
            </a:r>
            <a:br/>
            <a:r>
              <a:t>upward</a:t>
            </a:r>
          </a:p>
        </p:txBody>
      </p:sp>
      <p:sp>
        <p:nvSpPr>
          <p:cNvPr id="16" name="TextBox 15"/>
          <p:cNvSpPr txBox="1"/>
          <p:nvPr/>
        </p:nvSpPr>
        <p:spPr>
          <a:xfrm>
            <a:off x="5989320" y="2651760"/>
            <a:ext cx="365760" cy="365760"/>
          </a:xfrm>
          <a:prstGeom prst="rect">
            <a:avLst/>
          </a:prstGeom>
          <a:noFill/>
        </p:spPr>
        <p:txBody>
          <a:bodyPr wrap="square">
            <a:spAutoFit/>
          </a:bodyPr>
          <a:lstStyle/>
          <a:p>
            <a:pPr algn="ctr">
              <a:defRPr sz="1800" b="0" i="0">
                <a:solidFill>
                  <a:srgbClr val="9A928A"/>
                </a:solidFill>
                <a:latin typeface="Calibri"/>
              </a:defRPr>
            </a:pPr>
            <a:r>
              <a:t>&gt;</a:t>
            </a:r>
          </a:p>
        </p:txBody>
      </p:sp>
      <p:sp>
        <p:nvSpPr>
          <p:cNvPr id="17" name="Rounded Rectangle 16"/>
          <p:cNvSpPr/>
          <p:nvPr/>
        </p:nvSpPr>
        <p:spPr>
          <a:xfrm>
            <a:off x="6263640" y="2103120"/>
            <a:ext cx="1691640" cy="164592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79" y="2286000"/>
            <a:ext cx="1508760" cy="365760"/>
          </a:xfrm>
          <a:prstGeom prst="rect">
            <a:avLst/>
          </a:prstGeom>
          <a:noFill/>
        </p:spPr>
        <p:txBody>
          <a:bodyPr wrap="square">
            <a:spAutoFit/>
          </a:bodyPr>
          <a:lstStyle/>
          <a:p>
            <a:pPr algn="ctr">
              <a:defRPr sz="1400" b="1" i="0">
                <a:solidFill>
                  <a:srgbClr val="1C1C1C"/>
                </a:solidFill>
                <a:latin typeface="Calibri"/>
              </a:defRPr>
            </a:pPr>
            <a:r>
              <a:t>Site Lead</a:t>
            </a:r>
          </a:p>
        </p:txBody>
      </p:sp>
      <p:sp>
        <p:nvSpPr>
          <p:cNvPr id="19" name="TextBox 18"/>
          <p:cNvSpPr txBox="1"/>
          <p:nvPr/>
        </p:nvSpPr>
        <p:spPr>
          <a:xfrm>
            <a:off x="6355079" y="2697480"/>
            <a:ext cx="1508760" cy="548640"/>
          </a:xfrm>
          <a:prstGeom prst="rect">
            <a:avLst/>
          </a:prstGeom>
          <a:noFill/>
        </p:spPr>
        <p:txBody>
          <a:bodyPr wrap="square">
            <a:spAutoFit/>
          </a:bodyPr>
          <a:lstStyle/>
          <a:p>
            <a:pPr algn="ctr">
              <a:defRPr sz="1100" b="0" i="0">
                <a:solidFill>
                  <a:srgbClr val="9A928A"/>
                </a:solidFill>
                <a:latin typeface="Calibri"/>
              </a:defRPr>
            </a:pPr>
            <a:r>
              <a:t>adds to</a:t>
            </a:r>
            <a:br/>
            <a:r>
              <a:t>tracker</a:t>
            </a:r>
          </a:p>
        </p:txBody>
      </p:sp>
      <p:sp>
        <p:nvSpPr>
          <p:cNvPr id="20" name="TextBox 19"/>
          <p:cNvSpPr txBox="1"/>
          <p:nvPr/>
        </p:nvSpPr>
        <p:spPr>
          <a:xfrm>
            <a:off x="7863840" y="2651760"/>
            <a:ext cx="365760" cy="365760"/>
          </a:xfrm>
          <a:prstGeom prst="rect">
            <a:avLst/>
          </a:prstGeom>
          <a:noFill/>
        </p:spPr>
        <p:txBody>
          <a:bodyPr wrap="square">
            <a:spAutoFit/>
          </a:bodyPr>
          <a:lstStyle/>
          <a:p>
            <a:pPr algn="ctr">
              <a:defRPr sz="1800" b="0" i="0">
                <a:solidFill>
                  <a:srgbClr val="9A928A"/>
                </a:solidFill>
                <a:latin typeface="Calibri"/>
              </a:defRPr>
            </a:pPr>
            <a:r>
              <a:t>&gt;</a:t>
            </a:r>
          </a:p>
        </p:txBody>
      </p:sp>
      <p:sp>
        <p:nvSpPr>
          <p:cNvPr id="21" name="Rounded Rectangle 20"/>
          <p:cNvSpPr/>
          <p:nvPr/>
        </p:nvSpPr>
        <p:spPr>
          <a:xfrm>
            <a:off x="8138159" y="2103120"/>
            <a:ext cx="1691640" cy="1645920"/>
          </a:xfrm>
          <a:prstGeom prst="roundRect">
            <a:avLst/>
          </a:prstGeom>
          <a:solidFill>
            <a:srgbClr val="FDF7EA"/>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9" y="2286000"/>
            <a:ext cx="1508760" cy="365760"/>
          </a:xfrm>
          <a:prstGeom prst="rect">
            <a:avLst/>
          </a:prstGeom>
          <a:noFill/>
        </p:spPr>
        <p:txBody>
          <a:bodyPr wrap="square">
            <a:spAutoFit/>
          </a:bodyPr>
          <a:lstStyle/>
          <a:p>
            <a:pPr algn="ctr">
              <a:defRPr sz="1400" b="1" i="0">
                <a:solidFill>
                  <a:srgbClr val="B8860B"/>
                </a:solidFill>
                <a:latin typeface="Calibri"/>
              </a:defRPr>
            </a:pPr>
            <a:r>
              <a:t>Excel Sheet</a:t>
            </a:r>
          </a:p>
        </p:txBody>
      </p:sp>
      <p:sp>
        <p:nvSpPr>
          <p:cNvPr id="23" name="TextBox 22"/>
          <p:cNvSpPr txBox="1"/>
          <p:nvPr/>
        </p:nvSpPr>
        <p:spPr>
          <a:xfrm>
            <a:off x="8229599" y="2697480"/>
            <a:ext cx="1508760" cy="548640"/>
          </a:xfrm>
          <a:prstGeom prst="rect">
            <a:avLst/>
          </a:prstGeom>
          <a:noFill/>
        </p:spPr>
        <p:txBody>
          <a:bodyPr wrap="square">
            <a:spAutoFit/>
          </a:bodyPr>
          <a:lstStyle/>
          <a:p>
            <a:pPr algn="ctr">
              <a:defRPr sz="1100" b="0" i="0">
                <a:solidFill>
                  <a:srgbClr val="9A928A"/>
                </a:solidFill>
                <a:latin typeface="Calibri"/>
              </a:defRPr>
            </a:pPr>
            <a:r>
              <a:t>waits...</a:t>
            </a:r>
          </a:p>
        </p:txBody>
      </p:sp>
      <p:sp>
        <p:nvSpPr>
          <p:cNvPr id="24" name="TextBox 23"/>
          <p:cNvSpPr txBox="1"/>
          <p:nvPr/>
        </p:nvSpPr>
        <p:spPr>
          <a:xfrm>
            <a:off x="9738359" y="2651760"/>
            <a:ext cx="365760" cy="365760"/>
          </a:xfrm>
          <a:prstGeom prst="rect">
            <a:avLst/>
          </a:prstGeom>
          <a:noFill/>
        </p:spPr>
        <p:txBody>
          <a:bodyPr wrap="square">
            <a:spAutoFit/>
          </a:bodyPr>
          <a:lstStyle/>
          <a:p>
            <a:pPr algn="ctr">
              <a:defRPr sz="1800" b="0" i="0">
                <a:solidFill>
                  <a:srgbClr val="9A928A"/>
                </a:solidFill>
                <a:latin typeface="Calibri"/>
              </a:defRPr>
            </a:pPr>
            <a:r>
              <a:t>&gt;</a:t>
            </a:r>
          </a:p>
        </p:txBody>
      </p:sp>
      <p:sp>
        <p:nvSpPr>
          <p:cNvPr id="25" name="Rounded Rectangle 24"/>
          <p:cNvSpPr/>
          <p:nvPr/>
        </p:nvSpPr>
        <p:spPr>
          <a:xfrm>
            <a:off x="10012680" y="2103120"/>
            <a:ext cx="1691640" cy="1645920"/>
          </a:xfrm>
          <a:prstGeom prst="roundRect">
            <a:avLst/>
          </a:prstGeom>
          <a:solidFill>
            <a:srgbClr val="FDF0F0"/>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04119" y="2286000"/>
            <a:ext cx="1508760" cy="365760"/>
          </a:xfrm>
          <a:prstGeom prst="rect">
            <a:avLst/>
          </a:prstGeom>
          <a:noFill/>
        </p:spPr>
        <p:txBody>
          <a:bodyPr wrap="square">
            <a:spAutoFit/>
          </a:bodyPr>
          <a:lstStyle/>
          <a:p>
            <a:pPr algn="ctr">
              <a:defRPr sz="1400" b="1" i="0">
                <a:solidFill>
                  <a:srgbClr val="A63D2F"/>
                </a:solidFill>
                <a:latin typeface="Calibri"/>
              </a:defRPr>
            </a:pPr>
            <a:r>
              <a:t>Batch Review</a:t>
            </a:r>
          </a:p>
        </p:txBody>
      </p:sp>
      <p:sp>
        <p:nvSpPr>
          <p:cNvPr id="27" name="TextBox 26"/>
          <p:cNvSpPr txBox="1"/>
          <p:nvPr/>
        </p:nvSpPr>
        <p:spPr>
          <a:xfrm>
            <a:off x="10104119" y="2697480"/>
            <a:ext cx="1508760" cy="548640"/>
          </a:xfrm>
          <a:prstGeom prst="rect">
            <a:avLst/>
          </a:prstGeom>
          <a:noFill/>
        </p:spPr>
        <p:txBody>
          <a:bodyPr wrap="square">
            <a:spAutoFit/>
          </a:bodyPr>
          <a:lstStyle/>
          <a:p>
            <a:pPr algn="ctr">
              <a:defRPr sz="1100" b="0" i="0">
                <a:solidFill>
                  <a:srgbClr val="9A928A"/>
                </a:solidFill>
                <a:latin typeface="Calibri"/>
              </a:defRPr>
            </a:pPr>
            <a:r>
              <a:t>weeks later...</a:t>
            </a:r>
            <a:br/>
            <a:r>
              <a:t>maybe</a:t>
            </a:r>
          </a:p>
        </p:txBody>
      </p:sp>
      <p:sp>
        <p:nvSpPr>
          <p:cNvPr id="28" name="Rounded Rectangle 27"/>
          <p:cNvSpPr/>
          <p:nvPr/>
        </p:nvSpPr>
        <p:spPr>
          <a:xfrm>
            <a:off x="640080" y="4206240"/>
            <a:ext cx="3291840" cy="1280160"/>
          </a:xfrm>
          <a:prstGeom prst="roundRect">
            <a:avLst/>
          </a:prstGeom>
          <a:solidFill>
            <a:srgbClr val="FFFFFF"/>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297680"/>
            <a:ext cx="2926080" cy="548640"/>
          </a:xfrm>
          <a:prstGeom prst="rect">
            <a:avLst/>
          </a:prstGeom>
          <a:noFill/>
        </p:spPr>
        <p:txBody>
          <a:bodyPr wrap="square">
            <a:spAutoFit/>
          </a:bodyPr>
          <a:lstStyle/>
          <a:p>
            <a:pPr algn="l">
              <a:defRPr sz="4200" b="1" i="0">
                <a:solidFill>
                  <a:srgbClr val="A63D2F"/>
                </a:solidFill>
                <a:latin typeface="Calibri"/>
              </a:defRPr>
            </a:pPr>
            <a:r>
              <a:t>40-60</a:t>
            </a:r>
          </a:p>
        </p:txBody>
      </p:sp>
      <p:sp>
        <p:nvSpPr>
          <p:cNvPr id="30" name="TextBox 29"/>
          <p:cNvSpPr txBox="1"/>
          <p:nvPr/>
        </p:nvSpPr>
        <p:spPr>
          <a:xfrm>
            <a:off x="822960" y="4846320"/>
            <a:ext cx="2926080" cy="457200"/>
          </a:xfrm>
          <a:prstGeom prst="rect">
            <a:avLst/>
          </a:prstGeom>
          <a:noFill/>
        </p:spPr>
        <p:txBody>
          <a:bodyPr wrap="square">
            <a:spAutoFit/>
          </a:bodyPr>
          <a:lstStyle/>
          <a:p>
            <a:pPr algn="l">
              <a:defRPr sz="1200" b="0" i="0">
                <a:solidFill>
                  <a:srgbClr val="5A554F"/>
                </a:solidFill>
                <a:latin typeface="Calibri"/>
              </a:defRPr>
            </a:pPr>
            <a:r>
              <a:t>man-hours of documentation</a:t>
            </a:r>
            <a:br/>
            <a:r>
              <a:t>per CAPA investigation</a:t>
            </a:r>
          </a:p>
        </p:txBody>
      </p:sp>
      <p:sp>
        <p:nvSpPr>
          <p:cNvPr id="31" name="Rounded Rectangle 30"/>
          <p:cNvSpPr/>
          <p:nvPr/>
        </p:nvSpPr>
        <p:spPr>
          <a:xfrm>
            <a:off x="4206240" y="4206240"/>
            <a:ext cx="3291840" cy="1280160"/>
          </a:xfrm>
          <a:prstGeom prst="roundRect">
            <a:avLst/>
          </a:prstGeom>
          <a:solidFill>
            <a:srgbClr val="FFFFF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4297680"/>
            <a:ext cx="2926080" cy="548640"/>
          </a:xfrm>
          <a:prstGeom prst="rect">
            <a:avLst/>
          </a:prstGeom>
          <a:noFill/>
        </p:spPr>
        <p:txBody>
          <a:bodyPr wrap="square">
            <a:spAutoFit/>
          </a:bodyPr>
          <a:lstStyle/>
          <a:p>
            <a:pPr algn="l">
              <a:defRPr sz="4200" b="1" i="0">
                <a:solidFill>
                  <a:srgbClr val="B8860B"/>
                </a:solidFill>
                <a:latin typeface="Calibri"/>
              </a:defRPr>
            </a:pPr>
            <a:r>
              <a:t>90 days</a:t>
            </a:r>
          </a:p>
        </p:txBody>
      </p:sp>
      <p:sp>
        <p:nvSpPr>
          <p:cNvPr id="33" name="TextBox 32"/>
          <p:cNvSpPr txBox="1"/>
          <p:nvPr/>
        </p:nvSpPr>
        <p:spPr>
          <a:xfrm>
            <a:off x="4389120" y="4846320"/>
            <a:ext cx="2926080" cy="457200"/>
          </a:xfrm>
          <a:prstGeom prst="rect">
            <a:avLst/>
          </a:prstGeom>
          <a:noFill/>
        </p:spPr>
        <p:txBody>
          <a:bodyPr wrap="square">
            <a:spAutoFit/>
          </a:bodyPr>
          <a:lstStyle/>
          <a:p>
            <a:pPr algn="l">
              <a:defRPr sz="1200" b="0" i="0">
                <a:solidFill>
                  <a:srgbClr val="5A554F"/>
                </a:solidFill>
                <a:latin typeface="Calibri"/>
              </a:defRPr>
            </a:pPr>
            <a:r>
              <a:t>average deviation-to-closure</a:t>
            </a:r>
            <a:br/>
            <a:r>
              <a:t>cycle time</a:t>
            </a:r>
          </a:p>
        </p:txBody>
      </p:sp>
      <p:sp>
        <p:nvSpPr>
          <p:cNvPr id="34" name="Rounded Rectangle 33"/>
          <p:cNvSpPr/>
          <p:nvPr/>
        </p:nvSpPr>
        <p:spPr>
          <a:xfrm>
            <a:off x="7772400" y="4206240"/>
            <a:ext cx="3840480" cy="1280160"/>
          </a:xfrm>
          <a:prstGeom prst="roundRect">
            <a:avLst/>
          </a:prstGeom>
          <a:solidFill>
            <a:srgbClr val="FDF0F0"/>
          </a:solidFill>
          <a:ln w="19050">
            <a:solidFill>
              <a:srgbClr val="A63D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79" y="4297680"/>
            <a:ext cx="3474720" cy="365760"/>
          </a:xfrm>
          <a:prstGeom prst="rect">
            <a:avLst/>
          </a:prstGeom>
          <a:noFill/>
        </p:spPr>
        <p:txBody>
          <a:bodyPr wrap="square">
            <a:spAutoFit/>
          </a:bodyPr>
          <a:lstStyle/>
          <a:p>
            <a:pPr algn="l">
              <a:defRPr sz="1800" b="1" i="0">
                <a:solidFill>
                  <a:srgbClr val="A63D2F"/>
                </a:solidFill>
                <a:latin typeface="Calibri"/>
              </a:defRPr>
            </a:pPr>
            <a:r>
              <a:t>Changes get lost.</a:t>
            </a:r>
          </a:p>
        </p:txBody>
      </p:sp>
      <p:sp>
        <p:nvSpPr>
          <p:cNvPr id="36" name="TextBox 35"/>
          <p:cNvSpPr txBox="1"/>
          <p:nvPr/>
        </p:nvSpPr>
        <p:spPr>
          <a:xfrm>
            <a:off x="7955279" y="4709160"/>
            <a:ext cx="3474720" cy="640080"/>
          </a:xfrm>
          <a:prstGeom prst="rect">
            <a:avLst/>
          </a:prstGeom>
          <a:noFill/>
        </p:spPr>
        <p:txBody>
          <a:bodyPr wrap="square">
            <a:spAutoFit/>
          </a:bodyPr>
          <a:lstStyle/>
          <a:p>
            <a:pPr algn="l">
              <a:defRPr sz="1200" b="0" i="0">
                <a:solidFill>
                  <a:srgbClr val="5A554F"/>
                </a:solidFill>
                <a:latin typeface="Calibri"/>
              </a:defRPr>
            </a:pPr>
            <a:r>
              <a:t>The next operator runs the same wrong step. The same problem happens three shifts in a row before anyone connects the dots.</a:t>
            </a:r>
          </a:p>
        </p:txBody>
      </p:sp>
      <p:sp>
        <p:nvSpPr>
          <p:cNvPr id="37" name="TextBox 36"/>
          <p:cNvSpPr txBox="1"/>
          <p:nvPr/>
        </p:nvSpPr>
        <p:spPr>
          <a:xfrm>
            <a:off x="640080" y="5760720"/>
            <a:ext cx="10058400" cy="457200"/>
          </a:xfrm>
          <a:prstGeom prst="rect">
            <a:avLst/>
          </a:prstGeom>
          <a:noFill/>
        </p:spPr>
        <p:txBody>
          <a:bodyPr wrap="square">
            <a:spAutoFit/>
          </a:bodyPr>
          <a:lstStyle/>
          <a:p>
            <a:pPr algn="l">
              <a:defRPr sz="1600" b="1" i="0">
                <a:solidFill>
                  <a:srgbClr val="1C1C1C"/>
                </a:solidFill>
                <a:latin typeface="Calibri"/>
              </a:defRPr>
            </a:pPr>
            <a:r>
              <a:t>The systems for catching this stuff exist. They're just so painful that people work around them.</a:t>
            </a:r>
          </a:p>
        </p:txBody>
      </p:sp>
      <p:sp>
        <p:nvSpPr>
          <p:cNvPr id="38" name="TextBox 37"/>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365760"/>
            <a:ext cx="3657600" cy="274320"/>
          </a:xfrm>
          <a:prstGeom prst="rect">
            <a:avLst/>
          </a:prstGeom>
          <a:noFill/>
        </p:spPr>
        <p:txBody>
          <a:bodyPr wrap="square">
            <a:spAutoFit/>
          </a:bodyPr>
          <a:lstStyle/>
          <a:p>
            <a:pPr algn="l">
              <a:defRPr sz="1000" b="1" i="0">
                <a:solidFill>
                  <a:srgbClr val="3A7D52"/>
                </a:solidFill>
                <a:latin typeface="Calibri"/>
              </a:defRPr>
            </a:pPr>
            <a:r>
              <a:t>VENT — SOP SEARCH</a:t>
            </a:r>
          </a:p>
        </p:txBody>
      </p:sp>
      <p:sp>
        <p:nvSpPr>
          <p:cNvPr id="3" name="TextBox 2"/>
          <p:cNvSpPr txBox="1"/>
          <p:nvPr/>
        </p:nvSpPr>
        <p:spPr>
          <a:xfrm>
            <a:off x="640080" y="685800"/>
            <a:ext cx="10058400" cy="731520"/>
          </a:xfrm>
          <a:prstGeom prst="rect">
            <a:avLst/>
          </a:prstGeom>
          <a:noFill/>
        </p:spPr>
        <p:txBody>
          <a:bodyPr wrap="square">
            <a:spAutoFit/>
          </a:bodyPr>
          <a:lstStyle/>
          <a:p>
            <a:r>
              <a:rPr sz="3200" b="1" i="0">
                <a:solidFill>
                  <a:srgbClr val="1C1C1C"/>
                </a:solidFill>
                <a:latin typeface="Calibri"/>
              </a:rPr>
              <a:t>Search your SOPs in plain language. </a:t>
            </a:r>
            <a:r>
              <a:rPr sz="3200" b="1" i="0">
                <a:solidFill>
                  <a:srgbClr val="3A7D52"/>
                </a:solidFill>
                <a:latin typeface="Calibri"/>
              </a:rPr>
              <a:t>Find the mismatch.</a:t>
            </a:r>
          </a:p>
        </p:txBody>
      </p:sp>
      <p:sp>
        <p:nvSpPr>
          <p:cNvPr id="4" name="Rounded Rectangle 3"/>
          <p:cNvSpPr/>
          <p:nvPr/>
        </p:nvSpPr>
        <p:spPr>
          <a:xfrm>
            <a:off x="640080" y="1554480"/>
            <a:ext cx="10881360" cy="484632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10881360" cy="411480"/>
          </a:xfrm>
          <a:prstGeom prst="roundRect">
            <a:avLst/>
          </a:prstGeom>
          <a:solidFill>
            <a:srgbClr val="16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81912"/>
            <a:ext cx="3657600" cy="320040"/>
          </a:xfrm>
          <a:prstGeom prst="rect">
            <a:avLst/>
          </a:prstGeom>
          <a:noFill/>
        </p:spPr>
        <p:txBody>
          <a:bodyPr wrap="square">
            <a:spAutoFit/>
          </a:bodyPr>
          <a:lstStyle/>
          <a:p>
            <a:pPr algn="l">
              <a:defRPr sz="1000" b="0" i="0">
                <a:solidFill>
                  <a:srgbClr val="9A928A"/>
                </a:solidFill>
                <a:latin typeface="Consolas"/>
              </a:defRPr>
            </a:pPr>
            <a:r>
              <a:t>Vent - SOP Search</a:t>
            </a:r>
          </a:p>
        </p:txBody>
      </p:sp>
      <p:sp>
        <p:nvSpPr>
          <p:cNvPr id="7" name="TextBox 6"/>
          <p:cNvSpPr txBox="1"/>
          <p:nvPr/>
        </p:nvSpPr>
        <p:spPr>
          <a:xfrm>
            <a:off x="9326880" y="1581912"/>
            <a:ext cx="2011680" cy="320040"/>
          </a:xfrm>
          <a:prstGeom prst="rect">
            <a:avLst/>
          </a:prstGeom>
          <a:noFill/>
        </p:spPr>
        <p:txBody>
          <a:bodyPr wrap="square">
            <a:spAutoFit/>
          </a:bodyPr>
          <a:lstStyle/>
          <a:p>
            <a:pPr algn="r">
              <a:defRPr sz="900" b="1" i="0">
                <a:solidFill>
                  <a:srgbClr val="4ADE80"/>
                </a:solidFill>
                <a:latin typeface="Calibri"/>
              </a:defRPr>
            </a:pPr>
            <a:r>
              <a:t>WORKS TODAY</a:t>
            </a:r>
          </a:p>
        </p:txBody>
      </p:sp>
      <p:sp>
        <p:nvSpPr>
          <p:cNvPr id="8" name="Rounded Rectangle 7"/>
          <p:cNvSpPr/>
          <p:nvPr/>
        </p:nvSpPr>
        <p:spPr>
          <a:xfrm>
            <a:off x="914400" y="2103120"/>
            <a:ext cx="7772400" cy="502920"/>
          </a:xfrm>
          <a:prstGeom prst="roundRect">
            <a:avLst/>
          </a:prstGeom>
          <a:solidFill>
            <a:srgbClr val="2A2A3C"/>
          </a:solidFill>
          <a:ln w="19050">
            <a:solidFill>
              <a:srgbClr val="4A4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30552"/>
            <a:ext cx="6858000" cy="411480"/>
          </a:xfrm>
          <a:prstGeom prst="rect">
            <a:avLst/>
          </a:prstGeom>
          <a:noFill/>
        </p:spPr>
        <p:txBody>
          <a:bodyPr wrap="square">
            <a:spAutoFit/>
          </a:bodyPr>
          <a:lstStyle/>
          <a:p>
            <a:pPr algn="l">
              <a:defRPr sz="1300" b="0" i="0">
                <a:solidFill>
                  <a:srgbClr val="FFFFFF"/>
                </a:solidFill>
                <a:latin typeface="Consolas"/>
              </a:defRPr>
            </a:pPr>
            <a:r>
              <a:t>What WFI volume is needed for ATF filter flush?</a:t>
            </a:r>
          </a:p>
        </p:txBody>
      </p:sp>
      <p:sp>
        <p:nvSpPr>
          <p:cNvPr id="10" name="Rounded Rectangle 9"/>
          <p:cNvSpPr/>
          <p:nvPr/>
        </p:nvSpPr>
        <p:spPr>
          <a:xfrm>
            <a:off x="8869680" y="2130552"/>
            <a:ext cx="822960" cy="411480"/>
          </a:xfrm>
          <a:prstGeom prst="roundRect">
            <a:avLst/>
          </a:prstGeom>
          <a:solidFill>
            <a:srgbClr val="C45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0" y="2148840"/>
            <a:ext cx="822960" cy="365760"/>
          </a:xfrm>
          <a:prstGeom prst="rect">
            <a:avLst/>
          </a:prstGeom>
          <a:noFill/>
        </p:spPr>
        <p:txBody>
          <a:bodyPr wrap="square">
            <a:spAutoFit/>
          </a:bodyPr>
          <a:lstStyle/>
          <a:p>
            <a:pPr algn="ctr">
              <a:defRPr sz="1100" b="1" i="0">
                <a:solidFill>
                  <a:srgbClr val="FFFFFF"/>
                </a:solidFill>
                <a:latin typeface="Calibri"/>
              </a:defRPr>
            </a:pPr>
            <a:r>
              <a:t>Search</a:t>
            </a:r>
          </a:p>
        </p:txBody>
      </p:sp>
      <p:sp>
        <p:nvSpPr>
          <p:cNvPr id="12" name="Rounded Rectangle 11"/>
          <p:cNvSpPr/>
          <p:nvPr/>
        </p:nvSpPr>
        <p:spPr>
          <a:xfrm>
            <a:off x="914400" y="2788920"/>
            <a:ext cx="7772400" cy="3383280"/>
          </a:xfrm>
          <a:prstGeom prst="roundRect">
            <a:avLst/>
          </a:prstGeom>
          <a:solidFill>
            <a:srgbClr val="2A2A3C"/>
          </a:solidFill>
          <a:ln w="19050">
            <a:solidFill>
              <a:srgbClr val="3A3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880360"/>
            <a:ext cx="1371600" cy="274320"/>
          </a:xfrm>
          <a:prstGeom prst="rect">
            <a:avLst/>
          </a:prstGeom>
          <a:noFill/>
        </p:spPr>
        <p:txBody>
          <a:bodyPr wrap="square">
            <a:spAutoFit/>
          </a:bodyPr>
          <a:lstStyle/>
          <a:p>
            <a:pPr algn="l">
              <a:defRPr sz="900" b="1" i="0">
                <a:solidFill>
                  <a:srgbClr val="4ADE80"/>
                </a:solidFill>
                <a:latin typeface="Calibri"/>
              </a:defRPr>
            </a:pPr>
            <a:r>
              <a:t>MATCH FOUND</a:t>
            </a:r>
          </a:p>
        </p:txBody>
      </p:sp>
      <p:sp>
        <p:nvSpPr>
          <p:cNvPr id="14" name="TextBox 13"/>
          <p:cNvSpPr txBox="1"/>
          <p:nvPr/>
        </p:nvSpPr>
        <p:spPr>
          <a:xfrm>
            <a:off x="2468880" y="2880360"/>
            <a:ext cx="4572000" cy="274320"/>
          </a:xfrm>
          <a:prstGeom prst="rect">
            <a:avLst/>
          </a:prstGeom>
          <a:noFill/>
        </p:spPr>
        <p:txBody>
          <a:bodyPr wrap="square">
            <a:spAutoFit/>
          </a:bodyPr>
          <a:lstStyle/>
          <a:p>
            <a:pPr algn="l">
              <a:defRPr sz="1000" b="0" i="0">
                <a:solidFill>
                  <a:srgbClr val="9A928A"/>
                </a:solidFill>
                <a:latin typeface="Consolas"/>
              </a:defRPr>
            </a:pPr>
            <a:r>
              <a:t>SOP-ATF-2024-003  |  Section 4.2.1</a:t>
            </a:r>
          </a:p>
        </p:txBody>
      </p:sp>
      <p:sp>
        <p:nvSpPr>
          <p:cNvPr id="15" name="TextBox 14"/>
          <p:cNvSpPr txBox="1"/>
          <p:nvPr/>
        </p:nvSpPr>
        <p:spPr>
          <a:xfrm>
            <a:off x="1097280" y="3200400"/>
            <a:ext cx="7315200" cy="1828800"/>
          </a:xfrm>
          <a:prstGeom prst="rect">
            <a:avLst/>
          </a:prstGeom>
          <a:noFill/>
        </p:spPr>
        <p:txBody>
          <a:bodyPr wrap="square">
            <a:spAutoFit/>
          </a:bodyPr>
          <a:lstStyle/>
          <a:p>
            <a:pPr algn="l">
              <a:defRPr sz="1100" b="0" i="0">
                <a:solidFill>
                  <a:srgbClr val="CCCCCC"/>
                </a:solidFill>
                <a:latin typeface="Consolas"/>
              </a:defRPr>
            </a:pPr>
            <a:r>
              <a:t>4.2 Filter Preparation &amp; Flushing</a:t>
            </a:r>
            <a:br/>
            <a:br/>
            <a:r>
              <a:t>4.2.1 Pre-use flush requirements:</a:t>
            </a:r>
            <a:br/>
            <a:r>
              <a:t>  - Flush ATF filter assembly with WFI</a:t>
            </a:r>
            <a:br/>
            <a:r>
              <a:t>  - Minimum volume: 150L</a:t>
            </a:r>
            <a:br/>
            <a:r>
              <a:t>  - Flow rate: 50-80 L/min</a:t>
            </a:r>
            <a:br/>
            <a:r>
              <a:t>  - Account for total tubing dead volume (~12L)</a:t>
            </a:r>
          </a:p>
        </p:txBody>
      </p:sp>
      <p:sp>
        <p:nvSpPr>
          <p:cNvPr id="16" name="Rounded Rectangle 15"/>
          <p:cNvSpPr/>
          <p:nvPr/>
        </p:nvSpPr>
        <p:spPr>
          <a:xfrm>
            <a:off x="1097280" y="5120640"/>
            <a:ext cx="7406640" cy="868680"/>
          </a:xfrm>
          <a:prstGeom prst="roundRect">
            <a:avLst/>
          </a:prstGeom>
          <a:solidFill>
            <a:srgbClr val="3A1A1A"/>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5166360"/>
            <a:ext cx="2743200" cy="274320"/>
          </a:xfrm>
          <a:prstGeom prst="rect">
            <a:avLst/>
          </a:prstGeom>
          <a:noFill/>
        </p:spPr>
        <p:txBody>
          <a:bodyPr wrap="square">
            <a:spAutoFit/>
          </a:bodyPr>
          <a:lstStyle/>
          <a:p>
            <a:pPr algn="l">
              <a:defRPr sz="1100" b="1" i="0">
                <a:solidFill>
                  <a:srgbClr val="FF6B6B"/>
                </a:solidFill>
                <a:latin typeface="Calibri"/>
              </a:defRPr>
            </a:pPr>
            <a:r>
              <a:t>!! MISMATCH DETECTED</a:t>
            </a:r>
          </a:p>
        </p:txBody>
      </p:sp>
      <p:sp>
        <p:nvSpPr>
          <p:cNvPr id="18" name="TextBox 17"/>
          <p:cNvSpPr txBox="1"/>
          <p:nvPr/>
        </p:nvSpPr>
        <p:spPr>
          <a:xfrm>
            <a:off x="1280160" y="5440680"/>
            <a:ext cx="6858000" cy="457200"/>
          </a:xfrm>
          <a:prstGeom prst="rect">
            <a:avLst/>
          </a:prstGeom>
          <a:noFill/>
        </p:spPr>
        <p:txBody>
          <a:bodyPr wrap="square">
            <a:spAutoFit/>
          </a:bodyPr>
          <a:lstStyle/>
          <a:p>
            <a:pPr algn="l">
              <a:defRPr sz="1100" b="0" i="0">
                <a:solidFill>
                  <a:srgbClr val="CCCCCC"/>
                </a:solidFill>
                <a:latin typeface="Consolas"/>
              </a:defRPr>
            </a:pPr>
            <a:r>
              <a:t>PBR Step 5.3 specifies 100L.  SOP requires 150L.  Difference: 50L (33% below SOP).</a:t>
            </a:r>
          </a:p>
        </p:txBody>
      </p:sp>
      <p:sp>
        <p:nvSpPr>
          <p:cNvPr id="19" name="Rounded Rectangle 18"/>
          <p:cNvSpPr/>
          <p:nvPr/>
        </p:nvSpPr>
        <p:spPr>
          <a:xfrm>
            <a:off x="8869680" y="2788920"/>
            <a:ext cx="2468880" cy="2011680"/>
          </a:xfrm>
          <a:prstGeom prst="roundRect">
            <a:avLst/>
          </a:prstGeom>
          <a:solidFill>
            <a:srgbClr val="2A2A3C"/>
          </a:solidFill>
          <a:ln w="19050">
            <a:solidFill>
              <a:srgbClr val="3A3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0" y="2880360"/>
            <a:ext cx="2103120" cy="274320"/>
          </a:xfrm>
          <a:prstGeom prst="rect">
            <a:avLst/>
          </a:prstGeom>
          <a:noFill/>
        </p:spPr>
        <p:txBody>
          <a:bodyPr wrap="square">
            <a:spAutoFit/>
          </a:bodyPr>
          <a:lstStyle/>
          <a:p>
            <a:pPr algn="l">
              <a:defRPr sz="900" b="1" i="0">
                <a:solidFill>
                  <a:srgbClr val="9A928A"/>
                </a:solidFill>
                <a:latin typeface="Calibri"/>
              </a:defRPr>
            </a:pPr>
            <a:r>
              <a:t>RISK CONTEXT</a:t>
            </a:r>
          </a:p>
        </p:txBody>
      </p:sp>
      <p:sp>
        <p:nvSpPr>
          <p:cNvPr id="21" name="TextBox 20"/>
          <p:cNvSpPr txBox="1"/>
          <p:nvPr/>
        </p:nvSpPr>
        <p:spPr>
          <a:xfrm>
            <a:off x="9052560" y="3200400"/>
            <a:ext cx="2103120" cy="1463040"/>
          </a:xfrm>
          <a:prstGeom prst="rect">
            <a:avLst/>
          </a:prstGeom>
          <a:noFill/>
        </p:spPr>
        <p:txBody>
          <a:bodyPr wrap="square">
            <a:spAutoFit/>
          </a:bodyPr>
          <a:lstStyle/>
          <a:p>
            <a:pPr algn="l">
              <a:defRPr sz="1100" b="0" i="0">
                <a:solidFill>
                  <a:srgbClr val="CCCCCC"/>
                </a:solidFill>
                <a:latin typeface="Calibri"/>
              </a:defRPr>
            </a:pPr>
            <a:r>
              <a:t>ATF filter: ~E50,000</a:t>
            </a:r>
            <a:br/>
            <a:br/>
            <a:r>
              <a:t>Insufficient flush may</a:t>
            </a:r>
            <a:br/>
            <a:r>
              <a:t>cause membrane fouling</a:t>
            </a:r>
            <a:br/>
            <a:br/>
            <a:r>
              <a:t>Batch impact: E1-5M</a:t>
            </a:r>
          </a:p>
        </p:txBody>
      </p:sp>
      <p:sp>
        <p:nvSpPr>
          <p:cNvPr id="22" name="Rounded Rectangle 21"/>
          <p:cNvSpPr/>
          <p:nvPr/>
        </p:nvSpPr>
        <p:spPr>
          <a:xfrm>
            <a:off x="8869680" y="4983480"/>
            <a:ext cx="2468880" cy="457200"/>
          </a:xfrm>
          <a:prstGeom prst="roundRect">
            <a:avLst/>
          </a:prstGeom>
          <a:solidFill>
            <a:srgbClr val="1A3A2A"/>
          </a:solidFill>
          <a:ln w="19050">
            <a:solidFill>
              <a:srgbClr val="3A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0" y="5010912"/>
            <a:ext cx="2468880" cy="411480"/>
          </a:xfrm>
          <a:prstGeom prst="rect">
            <a:avLst/>
          </a:prstGeom>
          <a:noFill/>
        </p:spPr>
        <p:txBody>
          <a:bodyPr wrap="square">
            <a:spAutoFit/>
          </a:bodyPr>
          <a:lstStyle/>
          <a:p>
            <a:pPr algn="ctr">
              <a:defRPr sz="1200" b="1" i="0">
                <a:solidFill>
                  <a:srgbClr val="4ADE80"/>
                </a:solidFill>
                <a:latin typeface="Calibri"/>
              </a:defRPr>
            </a:pPr>
            <a:r>
              <a:t>Raise a Concern &gt;</a:t>
            </a:r>
          </a:p>
        </p:txBody>
      </p:sp>
      <p:sp>
        <p:nvSpPr>
          <p:cNvPr id="24" name="TextBox 23"/>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365760"/>
            <a:ext cx="4572000" cy="274320"/>
          </a:xfrm>
          <a:prstGeom prst="rect">
            <a:avLst/>
          </a:prstGeom>
          <a:noFill/>
        </p:spPr>
        <p:txBody>
          <a:bodyPr wrap="square">
            <a:spAutoFit/>
          </a:bodyPr>
          <a:lstStyle/>
          <a:p>
            <a:pPr algn="l">
              <a:defRPr sz="1000" b="1" i="0">
                <a:solidFill>
                  <a:srgbClr val="C45D2C"/>
                </a:solidFill>
                <a:latin typeface="Calibri"/>
              </a:defRPr>
            </a:pPr>
            <a:r>
              <a:t>VENT — FROM FLOOR TO ACTION</a:t>
            </a:r>
          </a:p>
        </p:txBody>
      </p:sp>
      <p:sp>
        <p:nvSpPr>
          <p:cNvPr id="3" name="TextBox 2"/>
          <p:cNvSpPr txBox="1"/>
          <p:nvPr/>
        </p:nvSpPr>
        <p:spPr>
          <a:xfrm>
            <a:off x="640080" y="685800"/>
            <a:ext cx="10058400" cy="731520"/>
          </a:xfrm>
          <a:prstGeom prst="rect">
            <a:avLst/>
          </a:prstGeom>
          <a:noFill/>
        </p:spPr>
        <p:txBody>
          <a:bodyPr wrap="square">
            <a:spAutoFit/>
          </a:bodyPr>
          <a:lstStyle/>
          <a:p>
            <a:r>
              <a:rPr sz="3000" b="1" i="0">
                <a:solidFill>
                  <a:srgbClr val="1C1C1C"/>
                </a:solidFill>
                <a:latin typeface="Calibri"/>
              </a:rPr>
              <a:t>Operator raises it in 30 seconds. </a:t>
            </a:r>
            <a:r>
              <a:rPr sz="3000" b="1" i="0">
                <a:solidFill>
                  <a:srgbClr val="1A3A5C"/>
                </a:solidFill>
                <a:latin typeface="Calibri"/>
              </a:rPr>
              <a:t>QA sees the diff.</a:t>
            </a:r>
          </a:p>
        </p:txBody>
      </p:sp>
      <p:sp>
        <p:nvSpPr>
          <p:cNvPr id="4" name="Rounded Rectangle 3"/>
          <p:cNvSpPr/>
          <p:nvPr/>
        </p:nvSpPr>
        <p:spPr>
          <a:xfrm>
            <a:off x="640080" y="1554480"/>
            <a:ext cx="5029200" cy="484632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5029200" cy="411480"/>
          </a:xfrm>
          <a:prstGeom prst="roundRect">
            <a:avLst/>
          </a:prstGeom>
          <a:solidFill>
            <a:srgbClr val="16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81912"/>
            <a:ext cx="2743200" cy="320040"/>
          </a:xfrm>
          <a:prstGeom prst="rect">
            <a:avLst/>
          </a:prstGeom>
          <a:noFill/>
        </p:spPr>
        <p:txBody>
          <a:bodyPr wrap="square">
            <a:spAutoFit/>
          </a:bodyPr>
          <a:lstStyle/>
          <a:p>
            <a:pPr algn="l">
              <a:defRPr sz="1000" b="0" i="0">
                <a:solidFill>
                  <a:srgbClr val="9A928A"/>
                </a:solidFill>
                <a:latin typeface="Consolas"/>
              </a:defRPr>
            </a:pPr>
            <a:r>
              <a:t>Vent - Raise a Concern</a:t>
            </a:r>
          </a:p>
        </p:txBody>
      </p:sp>
      <p:sp>
        <p:nvSpPr>
          <p:cNvPr id="7" name="TextBox 6"/>
          <p:cNvSpPr txBox="1"/>
          <p:nvPr/>
        </p:nvSpPr>
        <p:spPr>
          <a:xfrm>
            <a:off x="4114800" y="1581912"/>
            <a:ext cx="1371600" cy="320040"/>
          </a:xfrm>
          <a:prstGeom prst="rect">
            <a:avLst/>
          </a:prstGeom>
          <a:noFill/>
        </p:spPr>
        <p:txBody>
          <a:bodyPr wrap="square">
            <a:spAutoFit/>
          </a:bodyPr>
          <a:lstStyle/>
          <a:p>
            <a:pPr algn="r">
              <a:defRPr sz="900" b="1" i="0">
                <a:solidFill>
                  <a:srgbClr val="B8860B"/>
                </a:solidFill>
                <a:latin typeface="Calibri"/>
              </a:defRPr>
            </a:pPr>
            <a:r>
              <a:t>EARLY</a:t>
            </a:r>
          </a:p>
        </p:txBody>
      </p:sp>
      <p:sp>
        <p:nvSpPr>
          <p:cNvPr id="8" name="TextBox 7"/>
          <p:cNvSpPr txBox="1"/>
          <p:nvPr/>
        </p:nvSpPr>
        <p:spPr>
          <a:xfrm>
            <a:off x="822960" y="2103120"/>
            <a:ext cx="1828800" cy="228600"/>
          </a:xfrm>
          <a:prstGeom prst="rect">
            <a:avLst/>
          </a:prstGeom>
          <a:noFill/>
        </p:spPr>
        <p:txBody>
          <a:bodyPr wrap="square">
            <a:spAutoFit/>
          </a:bodyPr>
          <a:lstStyle/>
          <a:p>
            <a:pPr algn="l">
              <a:defRPr sz="900" b="1" i="0">
                <a:solidFill>
                  <a:srgbClr val="9A928A"/>
                </a:solidFill>
                <a:latin typeface="Calibri"/>
              </a:defRPr>
            </a:pPr>
            <a:r>
              <a:t>AREA</a:t>
            </a:r>
          </a:p>
        </p:txBody>
      </p:sp>
      <p:sp>
        <p:nvSpPr>
          <p:cNvPr id="9" name="Rounded Rectangle 8"/>
          <p:cNvSpPr/>
          <p:nvPr/>
        </p:nvSpPr>
        <p:spPr>
          <a:xfrm>
            <a:off x="822960" y="2331720"/>
            <a:ext cx="1371600" cy="365760"/>
          </a:xfrm>
          <a:prstGeom prst="roundRect">
            <a:avLst/>
          </a:prstGeom>
          <a:solidFill>
            <a:srgbClr val="C45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50008"/>
            <a:ext cx="1371600" cy="320040"/>
          </a:xfrm>
          <a:prstGeom prst="rect">
            <a:avLst/>
          </a:prstGeom>
          <a:noFill/>
        </p:spPr>
        <p:txBody>
          <a:bodyPr wrap="square">
            <a:spAutoFit/>
          </a:bodyPr>
          <a:lstStyle/>
          <a:p>
            <a:pPr algn="ctr">
              <a:defRPr sz="1100" b="1" i="0">
                <a:solidFill>
                  <a:srgbClr val="FFFFFF"/>
                </a:solidFill>
                <a:latin typeface="Calibri"/>
              </a:defRPr>
            </a:pPr>
            <a:r>
              <a:t>Downstream</a:t>
            </a:r>
          </a:p>
        </p:txBody>
      </p:sp>
      <p:sp>
        <p:nvSpPr>
          <p:cNvPr id="11" name="Rounded Rectangle 10"/>
          <p:cNvSpPr/>
          <p:nvPr/>
        </p:nvSpPr>
        <p:spPr>
          <a:xfrm>
            <a:off x="2286000" y="2331720"/>
            <a:ext cx="1097280" cy="365760"/>
          </a:xfrm>
          <a:prstGeom prst="roundRect">
            <a:avLst/>
          </a:prstGeom>
          <a:solidFill>
            <a:srgbClr val="2A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2350008"/>
            <a:ext cx="1097280" cy="320040"/>
          </a:xfrm>
          <a:prstGeom prst="rect">
            <a:avLst/>
          </a:prstGeom>
          <a:noFill/>
        </p:spPr>
        <p:txBody>
          <a:bodyPr wrap="square">
            <a:spAutoFit/>
          </a:bodyPr>
          <a:lstStyle/>
          <a:p>
            <a:pPr algn="ctr">
              <a:defRPr sz="1100" b="0" i="0">
                <a:solidFill>
                  <a:srgbClr val="9A928A"/>
                </a:solidFill>
                <a:latin typeface="Calibri"/>
              </a:defRPr>
            </a:pPr>
            <a:r>
              <a:t>Upstream</a:t>
            </a:r>
          </a:p>
        </p:txBody>
      </p:sp>
      <p:sp>
        <p:nvSpPr>
          <p:cNvPr id="13" name="Rounded Rectangle 12"/>
          <p:cNvSpPr/>
          <p:nvPr/>
        </p:nvSpPr>
        <p:spPr>
          <a:xfrm>
            <a:off x="3474720" y="2331720"/>
            <a:ext cx="914400" cy="365760"/>
          </a:xfrm>
          <a:prstGeom prst="roundRect">
            <a:avLst/>
          </a:prstGeom>
          <a:solidFill>
            <a:srgbClr val="2A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350008"/>
            <a:ext cx="914400" cy="320040"/>
          </a:xfrm>
          <a:prstGeom prst="rect">
            <a:avLst/>
          </a:prstGeom>
          <a:noFill/>
        </p:spPr>
        <p:txBody>
          <a:bodyPr wrap="square">
            <a:spAutoFit/>
          </a:bodyPr>
          <a:lstStyle/>
          <a:p>
            <a:pPr algn="ctr">
              <a:defRPr sz="1100" b="0" i="0">
                <a:solidFill>
                  <a:srgbClr val="9A928A"/>
                </a:solidFill>
                <a:latin typeface="Calibri"/>
              </a:defRPr>
            </a:pPr>
            <a:r>
              <a:t>Buffer</a:t>
            </a:r>
          </a:p>
        </p:txBody>
      </p:sp>
      <p:sp>
        <p:nvSpPr>
          <p:cNvPr id="15" name="TextBox 14"/>
          <p:cNvSpPr txBox="1"/>
          <p:nvPr/>
        </p:nvSpPr>
        <p:spPr>
          <a:xfrm>
            <a:off x="822960" y="2834640"/>
            <a:ext cx="1828800" cy="228600"/>
          </a:xfrm>
          <a:prstGeom prst="rect">
            <a:avLst/>
          </a:prstGeom>
          <a:noFill/>
        </p:spPr>
        <p:txBody>
          <a:bodyPr wrap="square">
            <a:spAutoFit/>
          </a:bodyPr>
          <a:lstStyle/>
          <a:p>
            <a:pPr algn="l">
              <a:defRPr sz="900" b="1" i="0">
                <a:solidFill>
                  <a:srgbClr val="9A928A"/>
                </a:solidFill>
                <a:latin typeface="Calibri"/>
              </a:defRPr>
            </a:pPr>
            <a:r>
              <a:t>TYPE</a:t>
            </a:r>
          </a:p>
        </p:txBody>
      </p:sp>
      <p:sp>
        <p:nvSpPr>
          <p:cNvPr id="16" name="Rounded Rectangle 15"/>
          <p:cNvSpPr/>
          <p:nvPr/>
        </p:nvSpPr>
        <p:spPr>
          <a:xfrm>
            <a:off x="822960" y="3063240"/>
            <a:ext cx="1554480" cy="365760"/>
          </a:xfrm>
          <a:prstGeom prst="roundRect">
            <a:avLst/>
          </a:prstGeom>
          <a:solidFill>
            <a:srgbClr val="3A1A1A"/>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081528"/>
            <a:ext cx="1554480" cy="320040"/>
          </a:xfrm>
          <a:prstGeom prst="rect">
            <a:avLst/>
          </a:prstGeom>
          <a:noFill/>
        </p:spPr>
        <p:txBody>
          <a:bodyPr wrap="square">
            <a:spAutoFit/>
          </a:bodyPr>
          <a:lstStyle/>
          <a:p>
            <a:pPr algn="ctr">
              <a:defRPr sz="1100" b="1" i="0">
                <a:solidFill>
                  <a:srgbClr val="FF6B6B"/>
                </a:solidFill>
                <a:latin typeface="Calibri"/>
              </a:defRPr>
            </a:pPr>
            <a:r>
              <a:t>Doc Mismatch</a:t>
            </a:r>
          </a:p>
        </p:txBody>
      </p:sp>
      <p:sp>
        <p:nvSpPr>
          <p:cNvPr id="18" name="TextBox 17"/>
          <p:cNvSpPr txBox="1"/>
          <p:nvPr/>
        </p:nvSpPr>
        <p:spPr>
          <a:xfrm>
            <a:off x="822960" y="3566160"/>
            <a:ext cx="2743200" cy="228600"/>
          </a:xfrm>
          <a:prstGeom prst="rect">
            <a:avLst/>
          </a:prstGeom>
          <a:noFill/>
        </p:spPr>
        <p:txBody>
          <a:bodyPr wrap="square">
            <a:spAutoFit/>
          </a:bodyPr>
          <a:lstStyle/>
          <a:p>
            <a:pPr algn="l">
              <a:defRPr sz="900" b="1" i="0">
                <a:solidFill>
                  <a:srgbClr val="9A928A"/>
                </a:solidFill>
                <a:latin typeface="Calibri"/>
              </a:defRPr>
            </a:pPr>
            <a:r>
              <a:t>WHAT DID YOU SEE?</a:t>
            </a:r>
          </a:p>
        </p:txBody>
      </p:sp>
      <p:sp>
        <p:nvSpPr>
          <p:cNvPr id="19" name="Rounded Rectangle 18"/>
          <p:cNvSpPr/>
          <p:nvPr/>
        </p:nvSpPr>
        <p:spPr>
          <a:xfrm>
            <a:off x="822960" y="3794760"/>
            <a:ext cx="4663440" cy="1463040"/>
          </a:xfrm>
          <a:prstGeom prst="roundRect">
            <a:avLst/>
          </a:prstGeom>
          <a:solidFill>
            <a:srgbClr val="2A2A3C"/>
          </a:solidFill>
          <a:ln w="19050">
            <a:solidFill>
              <a:srgbClr val="3A3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40480"/>
            <a:ext cx="4389120" cy="1280160"/>
          </a:xfrm>
          <a:prstGeom prst="rect">
            <a:avLst/>
          </a:prstGeom>
          <a:noFill/>
        </p:spPr>
        <p:txBody>
          <a:bodyPr wrap="square">
            <a:spAutoFit/>
          </a:bodyPr>
          <a:lstStyle/>
          <a:p>
            <a:pPr algn="l">
              <a:defRPr sz="1100" b="0" i="0">
                <a:solidFill>
                  <a:srgbClr val="E0E0E0"/>
                </a:solidFill>
                <a:latin typeface="Consolas"/>
              </a:defRPr>
            </a:pPr>
            <a:r>
              <a:t>PBR step 5.3 says flush ATF filter with 100L WFI. But the SOP says 150L. 100L doesn't cover the tubing dead volume on this skid. We've been doing 150L on the floor anyway but the PBR needs updating.</a:t>
            </a:r>
          </a:p>
        </p:txBody>
      </p:sp>
      <p:sp>
        <p:nvSpPr>
          <p:cNvPr id="21" name="Rounded Rectangle 20"/>
          <p:cNvSpPr/>
          <p:nvPr/>
        </p:nvSpPr>
        <p:spPr>
          <a:xfrm>
            <a:off x="822960" y="5394960"/>
            <a:ext cx="4663440" cy="411480"/>
          </a:xfrm>
          <a:prstGeom prst="roundRect">
            <a:avLst/>
          </a:prstGeom>
          <a:solidFill>
            <a:srgbClr val="1A2A1A"/>
          </a:solidFill>
          <a:ln w="19050">
            <a:solidFill>
              <a:srgbClr val="3A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413248"/>
            <a:ext cx="4389120" cy="320040"/>
          </a:xfrm>
          <a:prstGeom prst="rect">
            <a:avLst/>
          </a:prstGeom>
          <a:noFill/>
        </p:spPr>
        <p:txBody>
          <a:bodyPr wrap="square">
            <a:spAutoFit/>
          </a:bodyPr>
          <a:lstStyle/>
          <a:p>
            <a:pPr algn="l">
              <a:defRPr sz="1000" b="0" i="0">
                <a:solidFill>
                  <a:srgbClr val="4ADE80"/>
                </a:solidFill>
                <a:latin typeface="Calibri"/>
              </a:defRPr>
            </a:pPr>
            <a:r>
              <a:t>AUTO-LINKED: SOP-ATF-2024-003 | PBR-2024-BR-047</a:t>
            </a:r>
          </a:p>
        </p:txBody>
      </p:sp>
      <p:sp>
        <p:nvSpPr>
          <p:cNvPr id="23" name="Rounded Rectangle 22"/>
          <p:cNvSpPr/>
          <p:nvPr/>
        </p:nvSpPr>
        <p:spPr>
          <a:xfrm>
            <a:off x="822960" y="5897880"/>
            <a:ext cx="4663440" cy="411480"/>
          </a:xfrm>
          <a:prstGeom prst="roundRect">
            <a:avLst/>
          </a:prstGeom>
          <a:solidFill>
            <a:srgbClr val="C45D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916168"/>
            <a:ext cx="4663440" cy="365760"/>
          </a:xfrm>
          <a:prstGeom prst="rect">
            <a:avLst/>
          </a:prstGeom>
          <a:noFill/>
        </p:spPr>
        <p:txBody>
          <a:bodyPr wrap="square">
            <a:spAutoFit/>
          </a:bodyPr>
          <a:lstStyle/>
          <a:p>
            <a:pPr algn="ctr">
              <a:defRPr sz="1300" b="1" i="0">
                <a:solidFill>
                  <a:srgbClr val="FFFFFF"/>
                </a:solidFill>
                <a:latin typeface="Calibri"/>
              </a:defRPr>
            </a:pPr>
            <a:r>
              <a:t>Submit Concern &gt;</a:t>
            </a:r>
          </a:p>
        </p:txBody>
      </p:sp>
      <p:sp>
        <p:nvSpPr>
          <p:cNvPr id="25" name="TextBox 24"/>
          <p:cNvSpPr txBox="1"/>
          <p:nvPr/>
        </p:nvSpPr>
        <p:spPr>
          <a:xfrm>
            <a:off x="5669280" y="3474720"/>
            <a:ext cx="457200" cy="548640"/>
          </a:xfrm>
          <a:prstGeom prst="rect">
            <a:avLst/>
          </a:prstGeom>
          <a:noFill/>
        </p:spPr>
        <p:txBody>
          <a:bodyPr wrap="square">
            <a:spAutoFit/>
          </a:bodyPr>
          <a:lstStyle/>
          <a:p>
            <a:pPr algn="ctr">
              <a:defRPr sz="2800" b="1" i="0">
                <a:solidFill>
                  <a:srgbClr val="C45D2C"/>
                </a:solidFill>
                <a:latin typeface="Calibri"/>
              </a:defRPr>
            </a:pPr>
            <a:r>
              <a:t>&gt;</a:t>
            </a:r>
          </a:p>
        </p:txBody>
      </p:sp>
      <p:sp>
        <p:nvSpPr>
          <p:cNvPr id="26" name="TextBox 25"/>
          <p:cNvSpPr txBox="1"/>
          <p:nvPr/>
        </p:nvSpPr>
        <p:spPr>
          <a:xfrm>
            <a:off x="5486400" y="4023360"/>
            <a:ext cx="822960" cy="274320"/>
          </a:xfrm>
          <a:prstGeom prst="rect">
            <a:avLst/>
          </a:prstGeom>
          <a:noFill/>
        </p:spPr>
        <p:txBody>
          <a:bodyPr wrap="square">
            <a:spAutoFit/>
          </a:bodyPr>
          <a:lstStyle/>
          <a:p>
            <a:pPr algn="ctr">
              <a:defRPr sz="1000" b="0" i="0">
                <a:solidFill>
                  <a:srgbClr val="9A928A"/>
                </a:solidFill>
                <a:latin typeface="Calibri"/>
              </a:defRPr>
            </a:pPr>
            <a:r>
              <a:t>30 sec</a:t>
            </a:r>
          </a:p>
        </p:txBody>
      </p:sp>
      <p:sp>
        <p:nvSpPr>
          <p:cNvPr id="27" name="Rounded Rectangle 26"/>
          <p:cNvSpPr/>
          <p:nvPr/>
        </p:nvSpPr>
        <p:spPr>
          <a:xfrm>
            <a:off x="6217920" y="1554480"/>
            <a:ext cx="5303520" cy="484632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17920" y="1554480"/>
            <a:ext cx="5303520" cy="411480"/>
          </a:xfrm>
          <a:prstGeom prst="roundRect">
            <a:avLst/>
          </a:prstGeom>
          <a:solidFill>
            <a:srgbClr val="16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581912"/>
            <a:ext cx="3657600" cy="320040"/>
          </a:xfrm>
          <a:prstGeom prst="rect">
            <a:avLst/>
          </a:prstGeom>
          <a:noFill/>
        </p:spPr>
        <p:txBody>
          <a:bodyPr wrap="square">
            <a:spAutoFit/>
          </a:bodyPr>
          <a:lstStyle/>
          <a:p>
            <a:pPr algn="l">
              <a:defRPr sz="1000" b="0" i="0">
                <a:solidFill>
                  <a:srgbClr val="9A928A"/>
                </a:solidFill>
                <a:latin typeface="Consolas"/>
              </a:defRPr>
            </a:pPr>
            <a:r>
              <a:t>Vent - QA Document Control</a:t>
            </a:r>
          </a:p>
        </p:txBody>
      </p:sp>
      <p:sp>
        <p:nvSpPr>
          <p:cNvPr id="30" name="TextBox 29"/>
          <p:cNvSpPr txBox="1"/>
          <p:nvPr/>
        </p:nvSpPr>
        <p:spPr>
          <a:xfrm>
            <a:off x="6400800" y="2103120"/>
            <a:ext cx="1371600" cy="274320"/>
          </a:xfrm>
          <a:prstGeom prst="rect">
            <a:avLst/>
          </a:prstGeom>
          <a:noFill/>
        </p:spPr>
        <p:txBody>
          <a:bodyPr wrap="square">
            <a:spAutoFit/>
          </a:bodyPr>
          <a:lstStyle/>
          <a:p>
            <a:pPr algn="l">
              <a:defRPr sz="900" b="1" i="0">
                <a:solidFill>
                  <a:srgbClr val="FF6B6B"/>
                </a:solidFill>
                <a:latin typeface="Calibri"/>
              </a:defRPr>
            </a:pPr>
            <a:r>
              <a:t>DOC MISMATCH</a:t>
            </a:r>
          </a:p>
        </p:txBody>
      </p:sp>
      <p:sp>
        <p:nvSpPr>
          <p:cNvPr id="31" name="TextBox 30"/>
          <p:cNvSpPr txBox="1"/>
          <p:nvPr/>
        </p:nvSpPr>
        <p:spPr>
          <a:xfrm>
            <a:off x="7955279" y="2103120"/>
            <a:ext cx="1371600" cy="274320"/>
          </a:xfrm>
          <a:prstGeom prst="rect">
            <a:avLst/>
          </a:prstGeom>
          <a:noFill/>
        </p:spPr>
        <p:txBody>
          <a:bodyPr wrap="square">
            <a:spAutoFit/>
          </a:bodyPr>
          <a:lstStyle/>
          <a:p>
            <a:pPr algn="l">
              <a:defRPr sz="900" b="1" i="0">
                <a:solidFill>
                  <a:srgbClr val="B8860B"/>
                </a:solidFill>
                <a:latin typeface="Calibri"/>
              </a:defRPr>
            </a:pPr>
            <a:r>
              <a:t>MEDIUM RISK</a:t>
            </a:r>
          </a:p>
        </p:txBody>
      </p:sp>
      <p:sp>
        <p:nvSpPr>
          <p:cNvPr id="32" name="TextBox 31"/>
          <p:cNvSpPr txBox="1"/>
          <p:nvPr/>
        </p:nvSpPr>
        <p:spPr>
          <a:xfrm>
            <a:off x="9875520" y="2103120"/>
            <a:ext cx="1371600" cy="274320"/>
          </a:xfrm>
          <a:prstGeom prst="rect">
            <a:avLst/>
          </a:prstGeom>
          <a:noFill/>
        </p:spPr>
        <p:txBody>
          <a:bodyPr wrap="square">
            <a:spAutoFit/>
          </a:bodyPr>
          <a:lstStyle/>
          <a:p>
            <a:pPr algn="l">
              <a:defRPr sz="900" b="0" i="0">
                <a:solidFill>
                  <a:srgbClr val="9A928A"/>
                </a:solidFill>
                <a:latin typeface="Consolas"/>
              </a:defRPr>
            </a:pPr>
            <a:r>
              <a:t>VENT-2024-0847</a:t>
            </a:r>
          </a:p>
        </p:txBody>
      </p:sp>
      <p:sp>
        <p:nvSpPr>
          <p:cNvPr id="33" name="Rounded Rectangle 32"/>
          <p:cNvSpPr/>
          <p:nvPr/>
        </p:nvSpPr>
        <p:spPr>
          <a:xfrm>
            <a:off x="6400800" y="2423160"/>
            <a:ext cx="4937760" cy="365760"/>
          </a:xfrm>
          <a:prstGeom prst="roundRect">
            <a:avLst/>
          </a:prstGeom>
          <a:solidFill>
            <a:srgbClr val="2A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2441448"/>
            <a:ext cx="4754880" cy="320040"/>
          </a:xfrm>
          <a:prstGeom prst="rect">
            <a:avLst/>
          </a:prstGeom>
          <a:noFill/>
        </p:spPr>
        <p:txBody>
          <a:bodyPr wrap="square">
            <a:spAutoFit/>
          </a:bodyPr>
          <a:lstStyle/>
          <a:p>
            <a:pPr algn="l">
              <a:defRPr sz="1000" b="0" i="0">
                <a:solidFill>
                  <a:srgbClr val="CCCCCC"/>
                </a:solidFill>
                <a:latin typeface="Consolas"/>
              </a:defRPr>
            </a:pPr>
            <a:r>
              <a:t>Raised by: Downstream Operator | ATF Filtration | 2 hours ago</a:t>
            </a:r>
          </a:p>
        </p:txBody>
      </p:sp>
      <p:sp>
        <p:nvSpPr>
          <p:cNvPr id="35" name="Rounded Rectangle 34"/>
          <p:cNvSpPr/>
          <p:nvPr/>
        </p:nvSpPr>
        <p:spPr>
          <a:xfrm>
            <a:off x="6400800" y="2926080"/>
            <a:ext cx="4937760" cy="2194560"/>
          </a:xfrm>
          <a:prstGeom prst="roundRect">
            <a:avLst/>
          </a:prstGeom>
          <a:solidFill>
            <a:srgbClr val="2A2A3C"/>
          </a:solidFill>
          <a:ln w="19050">
            <a:solidFill>
              <a:srgbClr val="3A3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400800" y="2926080"/>
            <a:ext cx="4937760" cy="36576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37960" y="2944368"/>
            <a:ext cx="4572000" cy="320040"/>
          </a:xfrm>
          <a:prstGeom prst="rect">
            <a:avLst/>
          </a:prstGeom>
          <a:noFill/>
        </p:spPr>
        <p:txBody>
          <a:bodyPr wrap="square">
            <a:spAutoFit/>
          </a:bodyPr>
          <a:lstStyle/>
          <a:p>
            <a:pPr algn="l">
              <a:defRPr sz="1000" b="1" i="0">
                <a:solidFill>
                  <a:srgbClr val="FFFFFF"/>
                </a:solidFill>
                <a:latin typeface="Calibri"/>
              </a:defRPr>
            </a:pPr>
            <a:r>
              <a:t>Document Diff - PBR Step 5.3 vs SOP-ATF-2024-003</a:t>
            </a:r>
          </a:p>
        </p:txBody>
      </p:sp>
      <p:sp>
        <p:nvSpPr>
          <p:cNvPr id="38" name="TextBox 37"/>
          <p:cNvSpPr txBox="1"/>
          <p:nvPr/>
        </p:nvSpPr>
        <p:spPr>
          <a:xfrm>
            <a:off x="6537960" y="3429000"/>
            <a:ext cx="4572000" cy="320040"/>
          </a:xfrm>
          <a:prstGeom prst="rect">
            <a:avLst/>
          </a:prstGeom>
          <a:noFill/>
        </p:spPr>
        <p:txBody>
          <a:bodyPr wrap="square">
            <a:spAutoFit/>
          </a:bodyPr>
          <a:lstStyle/>
          <a:p>
            <a:pPr algn="l">
              <a:defRPr sz="1200" b="0" i="0">
                <a:solidFill>
                  <a:srgbClr val="FF6B6B"/>
                </a:solidFill>
                <a:latin typeface="Consolas"/>
              </a:defRPr>
            </a:pPr>
            <a:r>
              <a:t>-  Flush ATF filter with 100L WFI</a:t>
            </a:r>
          </a:p>
        </p:txBody>
      </p:sp>
      <p:sp>
        <p:nvSpPr>
          <p:cNvPr id="39" name="TextBox 38"/>
          <p:cNvSpPr txBox="1"/>
          <p:nvPr/>
        </p:nvSpPr>
        <p:spPr>
          <a:xfrm>
            <a:off x="6537960" y="3840480"/>
            <a:ext cx="4572000" cy="320040"/>
          </a:xfrm>
          <a:prstGeom prst="rect">
            <a:avLst/>
          </a:prstGeom>
          <a:noFill/>
        </p:spPr>
        <p:txBody>
          <a:bodyPr wrap="square">
            <a:spAutoFit/>
          </a:bodyPr>
          <a:lstStyle/>
          <a:p>
            <a:pPr algn="l">
              <a:defRPr sz="1200" b="0" i="0">
                <a:solidFill>
                  <a:srgbClr val="4ADE80"/>
                </a:solidFill>
                <a:latin typeface="Consolas"/>
              </a:defRPr>
            </a:pPr>
            <a:r>
              <a:t>+  Flush ATF filter with 150L WFI</a:t>
            </a:r>
          </a:p>
        </p:txBody>
      </p:sp>
      <p:sp>
        <p:nvSpPr>
          <p:cNvPr id="40" name="TextBox 39"/>
          <p:cNvSpPr txBox="1"/>
          <p:nvPr/>
        </p:nvSpPr>
        <p:spPr>
          <a:xfrm>
            <a:off x="6537960" y="4251960"/>
            <a:ext cx="4572000" cy="548640"/>
          </a:xfrm>
          <a:prstGeom prst="rect">
            <a:avLst/>
          </a:prstGeom>
          <a:noFill/>
        </p:spPr>
        <p:txBody>
          <a:bodyPr wrap="square">
            <a:spAutoFit/>
          </a:bodyPr>
          <a:lstStyle/>
          <a:p>
            <a:pPr algn="l">
              <a:defRPr sz="1100" b="0" i="0">
                <a:solidFill>
                  <a:srgbClr val="4ADE80"/>
                </a:solidFill>
                <a:latin typeface="Consolas"/>
              </a:defRPr>
            </a:pPr>
            <a:r>
              <a:t>+  (per SOP-ATF-2024-003, s.4.2.1</a:t>
            </a:r>
            <a:br/>
            <a:r>
              <a:t>    incl. tubing dead vol.)</a:t>
            </a:r>
          </a:p>
        </p:txBody>
      </p:sp>
      <p:sp>
        <p:nvSpPr>
          <p:cNvPr id="41" name="Rounded Rectangle 40"/>
          <p:cNvSpPr/>
          <p:nvPr/>
        </p:nvSpPr>
        <p:spPr>
          <a:xfrm>
            <a:off x="6400800" y="5303520"/>
            <a:ext cx="2011680" cy="457200"/>
          </a:xfrm>
          <a:prstGeom prst="roundRect">
            <a:avLst/>
          </a:prstGeom>
          <a:solidFill>
            <a:srgbClr val="1A3A2A"/>
          </a:solidFill>
          <a:ln w="19050">
            <a:solidFill>
              <a:srgbClr val="3A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330952"/>
            <a:ext cx="2011680" cy="365760"/>
          </a:xfrm>
          <a:prstGeom prst="rect">
            <a:avLst/>
          </a:prstGeom>
          <a:noFill/>
        </p:spPr>
        <p:txBody>
          <a:bodyPr wrap="square">
            <a:spAutoFit/>
          </a:bodyPr>
          <a:lstStyle/>
          <a:p>
            <a:pPr algn="ctr">
              <a:defRPr sz="1200" b="1" i="0">
                <a:solidFill>
                  <a:srgbClr val="4ADE80"/>
                </a:solidFill>
                <a:latin typeface="Calibri"/>
              </a:defRPr>
            </a:pPr>
            <a:r>
              <a:t>Approve</a:t>
            </a:r>
          </a:p>
        </p:txBody>
      </p:sp>
      <p:sp>
        <p:nvSpPr>
          <p:cNvPr id="43" name="Rounded Rectangle 42"/>
          <p:cNvSpPr/>
          <p:nvPr/>
        </p:nvSpPr>
        <p:spPr>
          <a:xfrm>
            <a:off x="8503920" y="5303520"/>
            <a:ext cx="1645920" cy="457200"/>
          </a:xfrm>
          <a:prstGeom prst="roundRect">
            <a:avLst/>
          </a:prstGeom>
          <a:solidFill>
            <a:srgbClr val="2A2A3C"/>
          </a:solidFill>
          <a:ln w="19050">
            <a:solidFill>
              <a:srgbClr val="3A3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03920" y="5330952"/>
            <a:ext cx="1645920" cy="365760"/>
          </a:xfrm>
          <a:prstGeom prst="rect">
            <a:avLst/>
          </a:prstGeom>
          <a:noFill/>
        </p:spPr>
        <p:txBody>
          <a:bodyPr wrap="square">
            <a:spAutoFit/>
          </a:bodyPr>
          <a:lstStyle/>
          <a:p>
            <a:pPr algn="ctr">
              <a:defRPr sz="1100" b="0" i="0">
                <a:solidFill>
                  <a:srgbClr val="CCCCCC"/>
                </a:solidFill>
                <a:latin typeface="Calibri"/>
              </a:defRPr>
            </a:pPr>
            <a:r>
              <a:t>Request Info</a:t>
            </a:r>
          </a:p>
        </p:txBody>
      </p:sp>
      <p:sp>
        <p:nvSpPr>
          <p:cNvPr id="45" name="Rounded Rectangle 44"/>
          <p:cNvSpPr/>
          <p:nvPr/>
        </p:nvSpPr>
        <p:spPr>
          <a:xfrm>
            <a:off x="10241280" y="5303520"/>
            <a:ext cx="1097280" cy="457200"/>
          </a:xfrm>
          <a:prstGeom prst="roundRect">
            <a:avLst/>
          </a:prstGeom>
          <a:solidFill>
            <a:srgbClr val="2A2A3C"/>
          </a:solidFill>
          <a:ln w="19050">
            <a:solidFill>
              <a:srgbClr val="3A3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41280" y="5330952"/>
            <a:ext cx="1097280" cy="365760"/>
          </a:xfrm>
          <a:prstGeom prst="rect">
            <a:avLst/>
          </a:prstGeom>
          <a:noFill/>
        </p:spPr>
        <p:txBody>
          <a:bodyPr wrap="square">
            <a:spAutoFit/>
          </a:bodyPr>
          <a:lstStyle/>
          <a:p>
            <a:pPr algn="ctr">
              <a:defRPr sz="1100" b="0" i="0">
                <a:solidFill>
                  <a:srgbClr val="9A928A"/>
                </a:solidFill>
                <a:latin typeface="Calibri"/>
              </a:defRPr>
            </a:pPr>
            <a:r>
              <a:t>Escalate</a:t>
            </a:r>
          </a:p>
        </p:txBody>
      </p:sp>
      <p:sp>
        <p:nvSpPr>
          <p:cNvPr id="47" name="TextBox 46"/>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457200"/>
            <a:ext cx="3657600" cy="274320"/>
          </a:xfrm>
          <a:prstGeom prst="rect">
            <a:avLst/>
          </a:prstGeom>
          <a:noFill/>
        </p:spPr>
        <p:txBody>
          <a:bodyPr wrap="square">
            <a:spAutoFit/>
          </a:bodyPr>
          <a:lstStyle/>
          <a:p>
            <a:pPr algn="l">
              <a:defRPr sz="1000" b="1" i="0">
                <a:solidFill>
                  <a:srgbClr val="C45D2C"/>
                </a:solidFill>
                <a:latin typeface="Calibri"/>
              </a:defRPr>
            </a:pPr>
            <a:r>
              <a:t>EARLY FEEDBACK</a:t>
            </a:r>
          </a:p>
        </p:txBody>
      </p:sp>
      <p:sp>
        <p:nvSpPr>
          <p:cNvPr id="3" name="TextBox 2"/>
          <p:cNvSpPr txBox="1"/>
          <p:nvPr/>
        </p:nvSpPr>
        <p:spPr>
          <a:xfrm>
            <a:off x="640080" y="777240"/>
            <a:ext cx="6400800" cy="731520"/>
          </a:xfrm>
          <a:prstGeom prst="rect">
            <a:avLst/>
          </a:prstGeom>
          <a:noFill/>
        </p:spPr>
        <p:txBody>
          <a:bodyPr wrap="square">
            <a:spAutoFit/>
          </a:bodyPr>
          <a:lstStyle/>
          <a:p>
            <a:r>
              <a:rPr sz="3200" b="1" i="0">
                <a:solidFill>
                  <a:srgbClr val="1C1C1C"/>
                </a:solidFill>
                <a:latin typeface="Calibri"/>
              </a:rPr>
              <a:t>People on the floor </a:t>
            </a:r>
            <a:r>
              <a:rPr sz="3400" b="1" i="1">
                <a:solidFill>
                  <a:srgbClr val="C45D2C"/>
                </a:solidFill>
                <a:latin typeface="Calibri"/>
              </a:rPr>
              <a:t>want this.</a:t>
            </a:r>
          </a:p>
        </p:txBody>
      </p:sp>
      <p:sp>
        <p:nvSpPr>
          <p:cNvPr id="4" name="Rounded Rectangle 3"/>
          <p:cNvSpPr/>
          <p:nvPr/>
        </p:nvSpPr>
        <p:spPr>
          <a:xfrm>
            <a:off x="640080" y="1645920"/>
            <a:ext cx="6675120" cy="1188720"/>
          </a:xfrm>
          <a:prstGeom prst="roundRect">
            <a:avLst/>
          </a:prstGeom>
          <a:solidFill>
            <a:srgbClr val="FFFFFF"/>
          </a:solidFill>
          <a:ln w="19050">
            <a:solidFill>
              <a:srgbClr val="C45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1828800" cy="228600"/>
          </a:xfrm>
          <a:prstGeom prst="rect">
            <a:avLst/>
          </a:prstGeom>
          <a:noFill/>
        </p:spPr>
        <p:txBody>
          <a:bodyPr wrap="square">
            <a:spAutoFit/>
          </a:bodyPr>
          <a:lstStyle/>
          <a:p>
            <a:pPr algn="l">
              <a:defRPr sz="900" b="1" i="0">
                <a:solidFill>
                  <a:srgbClr val="C45D2C"/>
                </a:solidFill>
                <a:latin typeface="Calibri"/>
              </a:defRPr>
            </a:pPr>
            <a:r>
              <a:t>TRAINING LEAD</a:t>
            </a:r>
          </a:p>
        </p:txBody>
      </p:sp>
      <p:sp>
        <p:nvSpPr>
          <p:cNvPr id="6" name="TextBox 5"/>
          <p:cNvSpPr txBox="1"/>
          <p:nvPr/>
        </p:nvSpPr>
        <p:spPr>
          <a:xfrm>
            <a:off x="822960" y="2011680"/>
            <a:ext cx="6217920" cy="457200"/>
          </a:xfrm>
          <a:prstGeom prst="rect">
            <a:avLst/>
          </a:prstGeom>
          <a:noFill/>
        </p:spPr>
        <p:txBody>
          <a:bodyPr wrap="square">
            <a:spAutoFit/>
          </a:bodyPr>
          <a:lstStyle/>
          <a:p>
            <a:pPr algn="l">
              <a:defRPr sz="1500" b="0" i="1">
                <a:solidFill>
                  <a:srgbClr val="1C1C1C"/>
                </a:solidFill>
                <a:latin typeface="Calibri"/>
              </a:defRPr>
            </a:pPr>
            <a:r>
              <a:t>"It would bring our training department into the 21st century."</a:t>
            </a:r>
          </a:p>
        </p:txBody>
      </p:sp>
      <p:sp>
        <p:nvSpPr>
          <p:cNvPr id="7" name="TextBox 6"/>
          <p:cNvSpPr txBox="1"/>
          <p:nvPr/>
        </p:nvSpPr>
        <p:spPr>
          <a:xfrm>
            <a:off x="822960" y="2468880"/>
            <a:ext cx="6217920" cy="274320"/>
          </a:xfrm>
          <a:prstGeom prst="rect">
            <a:avLst/>
          </a:prstGeom>
          <a:noFill/>
        </p:spPr>
        <p:txBody>
          <a:bodyPr wrap="square">
            <a:spAutoFit/>
          </a:bodyPr>
          <a:lstStyle/>
          <a:p>
            <a:pPr algn="l">
              <a:defRPr sz="1100" b="0" i="0">
                <a:solidFill>
                  <a:srgbClr val="9A928A"/>
                </a:solidFill>
                <a:latin typeface="Calibri"/>
              </a:defRPr>
            </a:pPr>
            <a:r>
              <a:t>Wants video SOPs + operator feedback tracking</a:t>
            </a:r>
          </a:p>
        </p:txBody>
      </p:sp>
      <p:sp>
        <p:nvSpPr>
          <p:cNvPr id="8" name="Rounded Rectangle 7"/>
          <p:cNvSpPr/>
          <p:nvPr/>
        </p:nvSpPr>
        <p:spPr>
          <a:xfrm>
            <a:off x="640080" y="3017520"/>
            <a:ext cx="6675120" cy="100584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08960"/>
            <a:ext cx="1828800" cy="228600"/>
          </a:xfrm>
          <a:prstGeom prst="rect">
            <a:avLst/>
          </a:prstGeom>
          <a:noFill/>
        </p:spPr>
        <p:txBody>
          <a:bodyPr wrap="square">
            <a:spAutoFit/>
          </a:bodyPr>
          <a:lstStyle/>
          <a:p>
            <a:pPr algn="l">
              <a:defRPr sz="900" b="1" i="0">
                <a:solidFill>
                  <a:srgbClr val="1A3A5C"/>
                </a:solidFill>
                <a:latin typeface="Calibri"/>
              </a:defRPr>
            </a:pPr>
            <a:r>
              <a:t>FLOOR OPERATOR</a:t>
            </a:r>
          </a:p>
        </p:txBody>
      </p:sp>
      <p:sp>
        <p:nvSpPr>
          <p:cNvPr id="10" name="TextBox 9"/>
          <p:cNvSpPr txBox="1"/>
          <p:nvPr/>
        </p:nvSpPr>
        <p:spPr>
          <a:xfrm>
            <a:off x="822960" y="3383280"/>
            <a:ext cx="6217920" cy="365760"/>
          </a:xfrm>
          <a:prstGeom prst="rect">
            <a:avLst/>
          </a:prstGeom>
          <a:noFill/>
        </p:spPr>
        <p:txBody>
          <a:bodyPr wrap="square">
            <a:spAutoFit/>
          </a:bodyPr>
          <a:lstStyle/>
          <a:p>
            <a:pPr algn="l">
              <a:defRPr sz="1500" b="0" i="1">
                <a:solidFill>
                  <a:srgbClr val="1C1C1C"/>
                </a:solidFill>
                <a:latin typeface="Calibri"/>
              </a:defRPr>
            </a:pPr>
            <a:r>
              <a:t>"Couldn't believe how much easier it was than the current system."</a:t>
            </a:r>
          </a:p>
        </p:txBody>
      </p:sp>
      <p:sp>
        <p:nvSpPr>
          <p:cNvPr id="11" name="TextBox 10"/>
          <p:cNvSpPr txBox="1"/>
          <p:nvPr/>
        </p:nvSpPr>
        <p:spPr>
          <a:xfrm>
            <a:off x="822960" y="3703320"/>
            <a:ext cx="6217920" cy="274320"/>
          </a:xfrm>
          <a:prstGeom prst="rect">
            <a:avLst/>
          </a:prstGeom>
          <a:noFill/>
        </p:spPr>
        <p:txBody>
          <a:bodyPr wrap="square">
            <a:spAutoFit/>
          </a:bodyPr>
          <a:lstStyle/>
          <a:p>
            <a:pPr algn="l">
              <a:defRPr sz="1100" b="0" i="0">
                <a:solidFill>
                  <a:srgbClr val="9A928A"/>
                </a:solidFill>
                <a:latin typeface="Calibri"/>
              </a:defRPr>
            </a:pPr>
            <a:r>
              <a:t>Buffer team - tested SOP search live</a:t>
            </a:r>
          </a:p>
        </p:txBody>
      </p:sp>
      <p:sp>
        <p:nvSpPr>
          <p:cNvPr id="12" name="Rounded Rectangle 11"/>
          <p:cNvSpPr/>
          <p:nvPr/>
        </p:nvSpPr>
        <p:spPr>
          <a:xfrm>
            <a:off x="640080" y="4206240"/>
            <a:ext cx="6675120" cy="100584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297680"/>
            <a:ext cx="2743200" cy="228600"/>
          </a:xfrm>
          <a:prstGeom prst="rect">
            <a:avLst/>
          </a:prstGeom>
          <a:noFill/>
        </p:spPr>
        <p:txBody>
          <a:bodyPr wrap="square">
            <a:spAutoFit/>
          </a:bodyPr>
          <a:lstStyle/>
          <a:p>
            <a:pPr algn="l">
              <a:defRPr sz="900" b="1" i="0">
                <a:solidFill>
                  <a:srgbClr val="3A7D52"/>
                </a:solidFill>
                <a:latin typeface="Calibri"/>
              </a:defRPr>
            </a:pPr>
            <a:r>
              <a:t>OPERATOR - ACCESSIBILITY</a:t>
            </a:r>
          </a:p>
        </p:txBody>
      </p:sp>
      <p:sp>
        <p:nvSpPr>
          <p:cNvPr id="14" name="TextBox 13"/>
          <p:cNvSpPr txBox="1"/>
          <p:nvPr/>
        </p:nvSpPr>
        <p:spPr>
          <a:xfrm>
            <a:off x="822960" y="4572000"/>
            <a:ext cx="6217920" cy="365760"/>
          </a:xfrm>
          <a:prstGeom prst="rect">
            <a:avLst/>
          </a:prstGeom>
          <a:noFill/>
        </p:spPr>
        <p:txBody>
          <a:bodyPr wrap="square">
            <a:spAutoFit/>
          </a:bodyPr>
          <a:lstStyle/>
          <a:p>
            <a:pPr algn="l">
              <a:defRPr sz="1400" b="0" i="1">
                <a:solidFill>
                  <a:srgbClr val="1C1C1C"/>
                </a:solidFill>
                <a:latin typeface="Calibri"/>
              </a:defRPr>
            </a:pPr>
            <a:r>
              <a:t>GDP checker - genuinely useful for an operator with dyslexia. A need I hadn't planned for.</a:t>
            </a:r>
          </a:p>
        </p:txBody>
      </p:sp>
      <p:sp>
        <p:nvSpPr>
          <p:cNvPr id="15" name="TextBox 14"/>
          <p:cNvSpPr txBox="1"/>
          <p:nvPr/>
        </p:nvSpPr>
        <p:spPr>
          <a:xfrm>
            <a:off x="822960" y="4892040"/>
            <a:ext cx="6217920" cy="274320"/>
          </a:xfrm>
          <a:prstGeom prst="rect">
            <a:avLst/>
          </a:prstGeom>
          <a:noFill/>
        </p:spPr>
        <p:txBody>
          <a:bodyPr wrap="square">
            <a:spAutoFit/>
          </a:bodyPr>
          <a:lstStyle/>
          <a:p>
            <a:pPr algn="l">
              <a:defRPr sz="1100" b="0" i="0">
                <a:solidFill>
                  <a:srgbClr val="9A928A"/>
                </a:solidFill>
                <a:latin typeface="Calibri"/>
              </a:defRPr>
            </a:pPr>
            <a:r>
              <a:t>The floor told me it mattered</a:t>
            </a:r>
          </a:p>
        </p:txBody>
      </p:sp>
      <p:sp>
        <p:nvSpPr>
          <p:cNvPr id="16" name="Rounded Rectangle 15"/>
          <p:cNvSpPr/>
          <p:nvPr/>
        </p:nvSpPr>
        <p:spPr>
          <a:xfrm>
            <a:off x="640080" y="5394960"/>
            <a:ext cx="6675120" cy="457200"/>
          </a:xfrm>
          <a:prstGeom prst="roundRect">
            <a:avLst/>
          </a:prstGeom>
          <a:solidFill>
            <a:srgbClr val="ED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440680"/>
            <a:ext cx="6217920" cy="365760"/>
          </a:xfrm>
          <a:prstGeom prst="rect">
            <a:avLst/>
          </a:prstGeom>
          <a:noFill/>
        </p:spPr>
        <p:txBody>
          <a:bodyPr wrap="square">
            <a:spAutoFit/>
          </a:bodyPr>
          <a:lstStyle/>
          <a:p>
            <a:pPr algn="l">
              <a:defRPr sz="1200" b="0" i="0">
                <a:solidFill>
                  <a:srgbClr val="5A554F"/>
                </a:solidFill>
                <a:latin typeface="Calibri"/>
              </a:defRPr>
            </a:pPr>
            <a:r>
              <a:t>Feedback from colleagues, not paying customers. Getting to customers is why I'm here.</a:t>
            </a:r>
          </a:p>
        </p:txBody>
      </p:sp>
      <p:sp>
        <p:nvSpPr>
          <p:cNvPr id="18" name="TextBox 17"/>
          <p:cNvSpPr txBox="1"/>
          <p:nvPr/>
        </p:nvSpPr>
        <p:spPr>
          <a:xfrm>
            <a:off x="7772400" y="457200"/>
            <a:ext cx="3657600" cy="274320"/>
          </a:xfrm>
          <a:prstGeom prst="rect">
            <a:avLst/>
          </a:prstGeom>
          <a:noFill/>
        </p:spPr>
        <p:txBody>
          <a:bodyPr wrap="square">
            <a:spAutoFit/>
          </a:bodyPr>
          <a:lstStyle/>
          <a:p>
            <a:pPr algn="l">
              <a:defRPr sz="1000" b="1" i="0">
                <a:solidFill>
                  <a:srgbClr val="1A3A5C"/>
                </a:solidFill>
                <a:latin typeface="Calibri"/>
              </a:defRPr>
            </a:pPr>
            <a:r>
              <a:t>MARKET &amp; OPPORTUNITY</a:t>
            </a:r>
          </a:p>
        </p:txBody>
      </p:sp>
      <p:sp>
        <p:nvSpPr>
          <p:cNvPr id="19" name="Rounded Rectangle 18"/>
          <p:cNvSpPr/>
          <p:nvPr/>
        </p:nvSpPr>
        <p:spPr>
          <a:xfrm>
            <a:off x="7772400" y="914400"/>
            <a:ext cx="3840480" cy="146304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1005840"/>
            <a:ext cx="3474720" cy="274320"/>
          </a:xfrm>
          <a:prstGeom prst="rect">
            <a:avLst/>
          </a:prstGeom>
          <a:noFill/>
        </p:spPr>
        <p:txBody>
          <a:bodyPr wrap="square">
            <a:spAutoFit/>
          </a:bodyPr>
          <a:lstStyle/>
          <a:p>
            <a:pPr algn="ctr">
              <a:defRPr sz="1200" b="0" i="0">
                <a:solidFill>
                  <a:srgbClr val="5A554F"/>
                </a:solidFill>
                <a:latin typeface="Calibri"/>
              </a:defRPr>
            </a:pPr>
            <a:r>
              <a:t>Pharma QMS market</a:t>
            </a:r>
          </a:p>
        </p:txBody>
      </p:sp>
      <p:sp>
        <p:nvSpPr>
          <p:cNvPr id="21" name="TextBox 20"/>
          <p:cNvSpPr txBox="1"/>
          <p:nvPr/>
        </p:nvSpPr>
        <p:spPr>
          <a:xfrm>
            <a:off x="7955279" y="1325880"/>
            <a:ext cx="3474720" cy="640080"/>
          </a:xfrm>
          <a:prstGeom prst="rect">
            <a:avLst/>
          </a:prstGeom>
          <a:noFill/>
        </p:spPr>
        <p:txBody>
          <a:bodyPr wrap="square">
            <a:spAutoFit/>
          </a:bodyPr>
          <a:lstStyle/>
          <a:p>
            <a:pPr algn="ctr">
              <a:defRPr sz="4800" b="1" i="0">
                <a:solidFill>
                  <a:srgbClr val="1A3A5C"/>
                </a:solidFill>
                <a:latin typeface="Calibri"/>
              </a:defRPr>
            </a:pPr>
            <a:r>
              <a:t>$3B</a:t>
            </a:r>
          </a:p>
        </p:txBody>
      </p:sp>
      <p:sp>
        <p:nvSpPr>
          <p:cNvPr id="22" name="TextBox 21"/>
          <p:cNvSpPr txBox="1"/>
          <p:nvPr/>
        </p:nvSpPr>
        <p:spPr>
          <a:xfrm>
            <a:off x="7955279" y="1965960"/>
            <a:ext cx="3474720" cy="274320"/>
          </a:xfrm>
          <a:prstGeom prst="rect">
            <a:avLst/>
          </a:prstGeom>
          <a:noFill/>
        </p:spPr>
        <p:txBody>
          <a:bodyPr wrap="square">
            <a:spAutoFit/>
          </a:bodyPr>
          <a:lstStyle/>
          <a:p>
            <a:pPr algn="ctr">
              <a:defRPr sz="1300" b="0" i="0">
                <a:solidFill>
                  <a:srgbClr val="9A928A"/>
                </a:solidFill>
                <a:latin typeface="Calibri"/>
              </a:defRPr>
            </a:pPr>
            <a:r>
              <a:t>13.3% CAGR</a:t>
            </a:r>
          </a:p>
        </p:txBody>
      </p:sp>
      <p:sp>
        <p:nvSpPr>
          <p:cNvPr id="23" name="Rounded Rectangle 22"/>
          <p:cNvSpPr/>
          <p:nvPr/>
        </p:nvSpPr>
        <p:spPr>
          <a:xfrm>
            <a:off x="7772400" y="2560320"/>
            <a:ext cx="3840480" cy="13716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79" y="2651760"/>
            <a:ext cx="3474720" cy="228600"/>
          </a:xfrm>
          <a:prstGeom prst="rect">
            <a:avLst/>
          </a:prstGeom>
          <a:noFill/>
        </p:spPr>
        <p:txBody>
          <a:bodyPr wrap="square">
            <a:spAutoFit/>
          </a:bodyPr>
          <a:lstStyle/>
          <a:p>
            <a:pPr algn="l">
              <a:defRPr sz="900" b="1" i="0">
                <a:solidFill>
                  <a:srgbClr val="A63D2F"/>
                </a:solidFill>
                <a:latin typeface="Calibri"/>
              </a:defRPr>
            </a:pPr>
            <a:r>
              <a:t>CURRENT TOOLS</a:t>
            </a:r>
          </a:p>
        </p:txBody>
      </p:sp>
      <p:sp>
        <p:nvSpPr>
          <p:cNvPr id="25" name="TextBox 24"/>
          <p:cNvSpPr txBox="1"/>
          <p:nvPr/>
        </p:nvSpPr>
        <p:spPr>
          <a:xfrm>
            <a:off x="7955279" y="2926080"/>
            <a:ext cx="3474720" cy="274320"/>
          </a:xfrm>
          <a:prstGeom prst="rect">
            <a:avLst/>
          </a:prstGeom>
          <a:noFill/>
        </p:spPr>
        <p:txBody>
          <a:bodyPr wrap="square">
            <a:spAutoFit/>
          </a:bodyPr>
          <a:lstStyle/>
          <a:p>
            <a:pPr algn="l">
              <a:defRPr sz="1300" b="0" i="0">
                <a:solidFill>
                  <a:srgbClr val="1C1C1C"/>
                </a:solidFill>
                <a:latin typeface="Calibri"/>
              </a:defRPr>
            </a:pPr>
            <a:r>
              <a:t>Veeva, TrackWise, MasterControl</a:t>
            </a:r>
          </a:p>
        </p:txBody>
      </p:sp>
      <p:sp>
        <p:nvSpPr>
          <p:cNvPr id="26" name="TextBox 25"/>
          <p:cNvSpPr txBox="1"/>
          <p:nvPr/>
        </p:nvSpPr>
        <p:spPr>
          <a:xfrm>
            <a:off x="7955279" y="3246120"/>
            <a:ext cx="3474720" cy="274320"/>
          </a:xfrm>
          <a:prstGeom prst="rect">
            <a:avLst/>
          </a:prstGeom>
          <a:noFill/>
        </p:spPr>
        <p:txBody>
          <a:bodyPr wrap="square">
            <a:spAutoFit/>
          </a:bodyPr>
          <a:lstStyle/>
          <a:p>
            <a:pPr algn="l">
              <a:defRPr sz="1400" b="1" i="0">
                <a:solidFill>
                  <a:srgbClr val="A63D2F"/>
                </a:solidFill>
                <a:latin typeface="Calibri"/>
              </a:defRPr>
            </a:pPr>
            <a:r>
              <a:t>E60K-E480K / site / year</a:t>
            </a:r>
          </a:p>
        </p:txBody>
      </p:sp>
      <p:sp>
        <p:nvSpPr>
          <p:cNvPr id="27" name="TextBox 26"/>
          <p:cNvSpPr txBox="1"/>
          <p:nvPr/>
        </p:nvSpPr>
        <p:spPr>
          <a:xfrm>
            <a:off x="7955279" y="3520440"/>
            <a:ext cx="3474720" cy="365760"/>
          </a:xfrm>
          <a:prstGeom prst="rect">
            <a:avLst/>
          </a:prstGeom>
          <a:noFill/>
        </p:spPr>
        <p:txBody>
          <a:bodyPr wrap="square">
            <a:spAutoFit/>
          </a:bodyPr>
          <a:lstStyle/>
          <a:p>
            <a:pPr algn="l">
              <a:defRPr sz="1100" b="0" i="0">
                <a:solidFill>
                  <a:srgbClr val="5A554F"/>
                </a:solidFill>
                <a:latin typeface="Calibri"/>
              </a:defRPr>
            </a:pPr>
            <a:r>
              <a:t>Built for compliance managers.</a:t>
            </a:r>
            <a:br/>
            <a:r>
              <a:t>Not for operators.</a:t>
            </a:r>
          </a:p>
        </p:txBody>
      </p:sp>
      <p:sp>
        <p:nvSpPr>
          <p:cNvPr id="28" name="Rounded Rectangle 27"/>
          <p:cNvSpPr/>
          <p:nvPr/>
        </p:nvSpPr>
        <p:spPr>
          <a:xfrm>
            <a:off x="7772400" y="4114800"/>
            <a:ext cx="3840480" cy="1097280"/>
          </a:xfrm>
          <a:prstGeom prst="roundRect">
            <a:avLst/>
          </a:prstGeom>
          <a:solidFill>
            <a:srgbClr val="FDF3EA"/>
          </a:solidFill>
          <a:ln w="19050">
            <a:solidFill>
              <a:srgbClr val="C45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4206240"/>
            <a:ext cx="3474720" cy="274320"/>
          </a:xfrm>
          <a:prstGeom prst="rect">
            <a:avLst/>
          </a:prstGeom>
          <a:noFill/>
        </p:spPr>
        <p:txBody>
          <a:bodyPr wrap="square">
            <a:spAutoFit/>
          </a:bodyPr>
          <a:lstStyle/>
          <a:p>
            <a:pPr algn="l">
              <a:defRPr sz="1400" b="1" i="0">
                <a:solidFill>
                  <a:srgbClr val="C45D2C"/>
                </a:solidFill>
                <a:latin typeface="Calibri"/>
              </a:defRPr>
            </a:pPr>
            <a:r>
              <a:t>Vent is the layer underneath</a:t>
            </a:r>
          </a:p>
        </p:txBody>
      </p:sp>
      <p:sp>
        <p:nvSpPr>
          <p:cNvPr id="30" name="TextBox 29"/>
          <p:cNvSpPr txBox="1"/>
          <p:nvPr/>
        </p:nvSpPr>
        <p:spPr>
          <a:xfrm>
            <a:off x="7955279" y="4526280"/>
            <a:ext cx="3474720" cy="548640"/>
          </a:xfrm>
          <a:prstGeom prst="rect">
            <a:avLst/>
          </a:prstGeom>
          <a:noFill/>
        </p:spPr>
        <p:txBody>
          <a:bodyPr wrap="square">
            <a:spAutoFit/>
          </a:bodyPr>
          <a:lstStyle/>
          <a:p>
            <a:pPr algn="l">
              <a:defRPr sz="1200" b="0" i="0">
                <a:solidFill>
                  <a:srgbClr val="5A554F"/>
                </a:solidFill>
                <a:latin typeface="Calibri"/>
              </a:defRPr>
            </a:pPr>
            <a:r>
              <a:t>Capturing what's actually happening on the floor before it reaches the QMS.</a:t>
            </a:r>
          </a:p>
        </p:txBody>
      </p:sp>
      <p:sp>
        <p:nvSpPr>
          <p:cNvPr id="31" name="Rounded Rectangle 30"/>
          <p:cNvSpPr/>
          <p:nvPr/>
        </p:nvSpPr>
        <p:spPr>
          <a:xfrm>
            <a:off x="7772400" y="5394960"/>
            <a:ext cx="3840480" cy="457200"/>
          </a:xfrm>
          <a:prstGeom prst="roundRect">
            <a:avLst/>
          </a:prstGeom>
          <a:solidFill>
            <a:srgbClr val="ED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5440680"/>
            <a:ext cx="3474720" cy="365760"/>
          </a:xfrm>
          <a:prstGeom prst="rect">
            <a:avLst/>
          </a:prstGeom>
          <a:noFill/>
        </p:spPr>
        <p:txBody>
          <a:bodyPr wrap="square">
            <a:spAutoFit/>
          </a:bodyPr>
          <a:lstStyle/>
          <a:p>
            <a:pPr algn="ctr">
              <a:defRPr sz="1300" b="1" i="0">
                <a:solidFill>
                  <a:srgbClr val="1C1C1C"/>
                </a:solidFill>
                <a:latin typeface="Calibri"/>
              </a:defRPr>
            </a:pPr>
            <a:r>
              <a:t>9 of top 10 pharma companies</a:t>
            </a:r>
            <a:br/>
            <a:r>
              <a:t>manufacture in Ireland</a:t>
            </a:r>
          </a:p>
        </p:txBody>
      </p:sp>
      <p:sp>
        <p:nvSpPr>
          <p:cNvPr id="33" name="TextBox 32"/>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B"/>
        </a:solidFill>
        <a:effectLst/>
      </p:bgPr>
    </p:bg>
    <p:spTree>
      <p:nvGrpSpPr>
        <p:cNvPr id="1" name=""/>
        <p:cNvGrpSpPr/>
        <p:nvPr/>
      </p:nvGrpSpPr>
      <p:grpSpPr/>
      <p:sp>
        <p:nvSpPr>
          <p:cNvPr id="2" name="TextBox 1"/>
          <p:cNvSpPr txBox="1"/>
          <p:nvPr/>
        </p:nvSpPr>
        <p:spPr>
          <a:xfrm>
            <a:off x="640080" y="548640"/>
            <a:ext cx="3657600" cy="274320"/>
          </a:xfrm>
          <a:prstGeom prst="rect">
            <a:avLst/>
          </a:prstGeom>
          <a:noFill/>
        </p:spPr>
        <p:txBody>
          <a:bodyPr wrap="square">
            <a:spAutoFit/>
          </a:bodyPr>
          <a:lstStyle/>
          <a:p>
            <a:pPr algn="l">
              <a:defRPr sz="1000" b="1" i="0">
                <a:solidFill>
                  <a:srgbClr val="C45D2C"/>
                </a:solidFill>
                <a:latin typeface="Calibri"/>
              </a:defRPr>
            </a:pPr>
            <a:r>
              <a:t>THE ASK</a:t>
            </a:r>
          </a:p>
        </p:txBody>
      </p:sp>
      <p:sp>
        <p:nvSpPr>
          <p:cNvPr id="3" name="TextBox 2"/>
          <p:cNvSpPr txBox="1"/>
          <p:nvPr/>
        </p:nvSpPr>
        <p:spPr>
          <a:xfrm>
            <a:off x="640080" y="914400"/>
            <a:ext cx="9144000" cy="1280160"/>
          </a:xfrm>
          <a:prstGeom prst="rect">
            <a:avLst/>
          </a:prstGeom>
          <a:noFill/>
        </p:spPr>
        <p:txBody>
          <a:bodyPr wrap="square">
            <a:spAutoFit/>
          </a:bodyPr>
          <a:lstStyle/>
          <a:p>
            <a:r>
              <a:rPr sz="4800" b="1" i="0">
                <a:solidFill>
                  <a:srgbClr val="1C1C1C"/>
                </a:solidFill>
                <a:latin typeface="Calibri"/>
              </a:rPr>
              <a:t>From prototype
</a:t>
            </a:r>
            <a:r>
              <a:rPr sz="5200" b="1" i="1">
                <a:solidFill>
                  <a:srgbClr val="C45D2C"/>
                </a:solidFill>
                <a:latin typeface="Calibri"/>
              </a:rPr>
              <a:t>to pilot.</a:t>
            </a:r>
          </a:p>
        </p:txBody>
      </p:sp>
      <p:sp>
        <p:nvSpPr>
          <p:cNvPr id="4" name="Rounded Rectangle 3"/>
          <p:cNvSpPr/>
          <p:nvPr/>
        </p:nvSpPr>
        <p:spPr>
          <a:xfrm>
            <a:off x="640080" y="2743200"/>
            <a:ext cx="3474720" cy="18288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834640"/>
            <a:ext cx="3108960" cy="457200"/>
          </a:xfrm>
          <a:prstGeom prst="rect">
            <a:avLst/>
          </a:prstGeom>
          <a:noFill/>
        </p:spPr>
        <p:txBody>
          <a:bodyPr wrap="square">
            <a:spAutoFit/>
          </a:bodyPr>
          <a:lstStyle/>
          <a:p>
            <a:pPr algn="l">
              <a:defRPr sz="2400" b="1" i="0">
                <a:solidFill>
                  <a:srgbClr val="C45D2C"/>
                </a:solidFill>
                <a:latin typeface="Calibri"/>
              </a:defRPr>
            </a:pPr>
            <a:r>
              <a:t>First pilot</a:t>
            </a:r>
          </a:p>
        </p:txBody>
      </p:sp>
      <p:sp>
        <p:nvSpPr>
          <p:cNvPr id="6" name="TextBox 5"/>
          <p:cNvSpPr txBox="1"/>
          <p:nvPr/>
        </p:nvSpPr>
        <p:spPr>
          <a:xfrm>
            <a:off x="822959" y="3383280"/>
            <a:ext cx="3108960" cy="1097280"/>
          </a:xfrm>
          <a:prstGeom prst="rect">
            <a:avLst/>
          </a:prstGeom>
          <a:noFill/>
        </p:spPr>
        <p:txBody>
          <a:bodyPr wrap="square">
            <a:spAutoFit/>
          </a:bodyPr>
          <a:lstStyle/>
          <a:p>
            <a:pPr algn="l">
              <a:defRPr sz="1300" b="0" i="0">
                <a:solidFill>
                  <a:srgbClr val="5A554F"/>
                </a:solidFill>
                <a:latin typeface="Calibri"/>
              </a:defRPr>
            </a:pPr>
            <a:r>
              <a:t>A pharma site in Ireland. I work inside the industry. Pfizer, Lilly, MSD, Regeneron - all within 2 hours. These are doors I can get into.</a:t>
            </a:r>
          </a:p>
        </p:txBody>
      </p:sp>
      <p:sp>
        <p:nvSpPr>
          <p:cNvPr id="7" name="Rounded Rectangle 6"/>
          <p:cNvSpPr/>
          <p:nvPr/>
        </p:nvSpPr>
        <p:spPr>
          <a:xfrm>
            <a:off x="4389120" y="2743200"/>
            <a:ext cx="3474720" cy="18288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834640"/>
            <a:ext cx="3108960" cy="457200"/>
          </a:xfrm>
          <a:prstGeom prst="rect">
            <a:avLst/>
          </a:prstGeom>
          <a:noFill/>
        </p:spPr>
        <p:txBody>
          <a:bodyPr wrap="square">
            <a:spAutoFit/>
          </a:bodyPr>
          <a:lstStyle/>
          <a:p>
            <a:pPr algn="l">
              <a:defRPr sz="2400" b="1" i="0">
                <a:solidFill>
                  <a:srgbClr val="1A3A5C"/>
                </a:solidFill>
                <a:latin typeface="Calibri"/>
              </a:defRPr>
            </a:pPr>
            <a:r>
              <a:t>GMP pathway</a:t>
            </a:r>
          </a:p>
        </p:txBody>
      </p:sp>
      <p:sp>
        <p:nvSpPr>
          <p:cNvPr id="9" name="TextBox 8"/>
          <p:cNvSpPr txBox="1"/>
          <p:nvPr/>
        </p:nvSpPr>
        <p:spPr>
          <a:xfrm>
            <a:off x="4572000" y="3383280"/>
            <a:ext cx="3108960" cy="1097280"/>
          </a:xfrm>
          <a:prstGeom prst="rect">
            <a:avLst/>
          </a:prstGeom>
          <a:noFill/>
        </p:spPr>
        <p:txBody>
          <a:bodyPr wrap="square">
            <a:spAutoFit/>
          </a:bodyPr>
          <a:lstStyle/>
          <a:p>
            <a:pPr algn="l">
              <a:defRPr sz="1300" b="0" i="0">
                <a:solidFill>
                  <a:srgbClr val="5A554F"/>
                </a:solidFill>
                <a:latin typeface="Calibri"/>
              </a:defRPr>
            </a:pPr>
            <a:r>
              <a:t>Formal validation documentation. A regulated facility won't use software without it. I need help navigating this.</a:t>
            </a:r>
          </a:p>
        </p:txBody>
      </p:sp>
      <p:sp>
        <p:nvSpPr>
          <p:cNvPr id="10" name="Rounded Rectangle 9"/>
          <p:cNvSpPr/>
          <p:nvPr/>
        </p:nvSpPr>
        <p:spPr>
          <a:xfrm>
            <a:off x="8138159" y="2743200"/>
            <a:ext cx="3474720" cy="1828800"/>
          </a:xfrm>
          <a:prstGeom prst="roundRect">
            <a:avLst/>
          </a:prstGeom>
          <a:solidFill>
            <a:srgbClr val="FFFFFF"/>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39" y="2834640"/>
            <a:ext cx="3108960" cy="457200"/>
          </a:xfrm>
          <a:prstGeom prst="rect">
            <a:avLst/>
          </a:prstGeom>
          <a:noFill/>
        </p:spPr>
        <p:txBody>
          <a:bodyPr wrap="square">
            <a:spAutoFit/>
          </a:bodyPr>
          <a:lstStyle/>
          <a:p>
            <a:pPr algn="l">
              <a:defRPr sz="2400" b="1" i="0">
                <a:solidFill>
                  <a:srgbClr val="B8860B"/>
                </a:solidFill>
                <a:latin typeface="Calibri"/>
              </a:defRPr>
            </a:pPr>
            <a:r>
              <a:t>Technical co-founder</a:t>
            </a:r>
          </a:p>
        </p:txBody>
      </p:sp>
      <p:sp>
        <p:nvSpPr>
          <p:cNvPr id="12" name="TextBox 11"/>
          <p:cNvSpPr txBox="1"/>
          <p:nvPr/>
        </p:nvSpPr>
        <p:spPr>
          <a:xfrm>
            <a:off x="8321039" y="3383280"/>
            <a:ext cx="3108960" cy="1097280"/>
          </a:xfrm>
          <a:prstGeom prst="rect">
            <a:avLst/>
          </a:prstGeom>
          <a:noFill/>
        </p:spPr>
        <p:txBody>
          <a:bodyPr wrap="square">
            <a:spAutoFit/>
          </a:bodyPr>
          <a:lstStyle/>
          <a:p>
            <a:pPr algn="l">
              <a:defRPr sz="1300" b="0" i="0">
                <a:solidFill>
                  <a:srgbClr val="5A554F"/>
                </a:solidFill>
                <a:latin typeface="Calibri"/>
              </a:defRPr>
            </a:pPr>
            <a:r>
              <a:t>Someone who's scaled enterprise SaaS. I can build the prototype. I need someone who knows how to scale it.</a:t>
            </a:r>
          </a:p>
        </p:txBody>
      </p:sp>
      <p:sp>
        <p:nvSpPr>
          <p:cNvPr id="13" name="Rounded Rectangle 12"/>
          <p:cNvSpPr/>
          <p:nvPr/>
        </p:nvSpPr>
        <p:spPr>
          <a:xfrm>
            <a:off x="640080" y="4937760"/>
            <a:ext cx="10881360" cy="1371600"/>
          </a:xfrm>
          <a:prstGeom prst="roundRect">
            <a:avLst/>
          </a:prstGeom>
          <a:solidFill>
            <a:srgbClr val="EDE8E2"/>
          </a:solidFill>
          <a:ln w="19050">
            <a:solidFill>
              <a:srgbClr val="D4C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120640"/>
            <a:ext cx="6858000" cy="914400"/>
          </a:xfrm>
          <a:prstGeom prst="rect">
            <a:avLst/>
          </a:prstGeom>
          <a:noFill/>
        </p:spPr>
        <p:txBody>
          <a:bodyPr wrap="square">
            <a:spAutoFit/>
          </a:bodyPr>
          <a:lstStyle/>
          <a:p>
            <a:r>
              <a:rPr sz="1800" b="1" i="0">
                <a:solidFill>
                  <a:srgbClr val="1C1C1C"/>
                </a:solidFill>
                <a:latin typeface="Calibri"/>
              </a:rPr>
              <a:t>The people on the floor are already telling me they want this.
</a:t>
            </a:r>
            <a:r>
              <a:rPr sz="1800" b="0" i="0">
                <a:solidFill>
                  <a:srgbClr val="5A554F"/>
                </a:solidFill>
                <a:latin typeface="Calibri"/>
              </a:rPr>
              <a:t>I just need the time to make it happen.</a:t>
            </a:r>
          </a:p>
        </p:txBody>
      </p:sp>
      <p:sp>
        <p:nvSpPr>
          <p:cNvPr id="15" name="TextBox 14"/>
          <p:cNvSpPr txBox="1"/>
          <p:nvPr/>
        </p:nvSpPr>
        <p:spPr>
          <a:xfrm>
            <a:off x="8686800" y="5120640"/>
            <a:ext cx="2743200" cy="274320"/>
          </a:xfrm>
          <a:prstGeom prst="rect">
            <a:avLst/>
          </a:prstGeom>
          <a:noFill/>
        </p:spPr>
        <p:txBody>
          <a:bodyPr wrap="square">
            <a:spAutoFit/>
          </a:bodyPr>
          <a:lstStyle/>
          <a:p>
            <a:pPr algn="r">
              <a:defRPr sz="1600" b="1" i="0">
                <a:solidFill>
                  <a:srgbClr val="1C1C1C"/>
                </a:solidFill>
                <a:latin typeface="Calibri"/>
              </a:defRPr>
            </a:pPr>
            <a:r>
              <a:t>Darren Doherty</a:t>
            </a:r>
          </a:p>
        </p:txBody>
      </p:sp>
      <p:sp>
        <p:nvSpPr>
          <p:cNvPr id="16" name="TextBox 15"/>
          <p:cNvSpPr txBox="1"/>
          <p:nvPr/>
        </p:nvSpPr>
        <p:spPr>
          <a:xfrm>
            <a:off x="8686800" y="5394960"/>
            <a:ext cx="2743200" cy="274320"/>
          </a:xfrm>
          <a:prstGeom prst="rect">
            <a:avLst/>
          </a:prstGeom>
          <a:noFill/>
        </p:spPr>
        <p:txBody>
          <a:bodyPr wrap="square">
            <a:spAutoFit/>
          </a:bodyPr>
          <a:lstStyle/>
          <a:p>
            <a:pPr algn="r">
              <a:defRPr sz="1200" b="0" i="0">
                <a:solidFill>
                  <a:srgbClr val="5A554F"/>
                </a:solidFill>
                <a:latin typeface="Calibri"/>
              </a:defRPr>
            </a:pPr>
            <a:r>
              <a:t>doherd33@gmail.com</a:t>
            </a:r>
          </a:p>
        </p:txBody>
      </p:sp>
      <p:sp>
        <p:nvSpPr>
          <p:cNvPr id="17" name="TextBox 16"/>
          <p:cNvSpPr txBox="1"/>
          <p:nvPr/>
        </p:nvSpPr>
        <p:spPr>
          <a:xfrm>
            <a:off x="8686800" y="5669280"/>
            <a:ext cx="2743200" cy="274320"/>
          </a:xfrm>
          <a:prstGeom prst="rect">
            <a:avLst/>
          </a:prstGeom>
          <a:noFill/>
        </p:spPr>
        <p:txBody>
          <a:bodyPr wrap="square">
            <a:spAutoFit/>
          </a:bodyPr>
          <a:lstStyle/>
          <a:p>
            <a:pPr algn="r">
              <a:defRPr sz="1100" b="0" i="0">
                <a:solidFill>
                  <a:srgbClr val="9A928A"/>
                </a:solidFill>
                <a:latin typeface="Calibri"/>
              </a:defRPr>
            </a:pPr>
            <a:r>
              <a:t>BSc Immunology | Trinity College Dublin</a:t>
            </a:r>
          </a:p>
        </p:txBody>
      </p:sp>
      <p:sp>
        <p:nvSpPr>
          <p:cNvPr id="18" name="TextBox 17"/>
          <p:cNvSpPr txBox="1"/>
          <p:nvPr/>
        </p:nvSpPr>
        <p:spPr>
          <a:xfrm>
            <a:off x="10972800" y="6400800"/>
            <a:ext cx="1097280" cy="365760"/>
          </a:xfrm>
          <a:prstGeom prst="rect">
            <a:avLst/>
          </a:prstGeom>
          <a:noFill/>
        </p:spPr>
        <p:txBody>
          <a:bodyPr wrap="square">
            <a:spAutoFit/>
          </a:bodyPr>
          <a:lstStyle/>
          <a:p>
            <a:pPr algn="r">
              <a:defRPr sz="1000" b="0" i="0">
                <a:solidFill>
                  <a:srgbClr val="9A928A"/>
                </a:solidFill>
                <a:latin typeface="Calibri"/>
              </a:defRPr>
            </a:pPr>
            <a: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